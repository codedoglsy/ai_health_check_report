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  <p:sldMasterId id="2147483650" r:id="rId3"/>
    <p:sldMasterId id="2147483657" r:id="rId4"/>
  </p:sldMasterIdLst>
  <p:notesMasterIdLst>
    <p:notesMasterId r:id="rId14"/>
  </p:notesMasterIdLst>
  <p:sldIdLst>
    <p:sldId id="265" r:id="rId5"/>
    <p:sldId id="257" r:id="rId6"/>
    <p:sldId id="258" r:id="rId7"/>
    <p:sldId id="259" r:id="rId8"/>
    <p:sldId id="260" r:id="rId9"/>
    <p:sldId id="261" r:id="rId10"/>
    <p:sldId id="262" r:id="rId11"/>
    <p:sldId id="264" r:id="rId12"/>
    <p:sldId id="266" r:id="rId13"/>
    <p:sldId id="267" r:id="rId15"/>
  </p:sldIdLst>
  <p:sldSz cx="6858000" cy="9906000" type="A4"/>
  <p:notesSz cx="9906000" cy="685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银杏舍医务室2" initials="银" lastIdx="2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10"/>
  </p:normalViewPr>
  <p:slideViewPr>
    <p:cSldViewPr snapToGrid="0" snapToObjects="1">
      <p:cViewPr varScale="1">
        <p:scale>
          <a:sx n="74" d="100"/>
          <a:sy n="74" d="100"/>
        </p:scale>
        <p:origin x="3030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slide" Target="slides/slide1.xml"/><Relationship Id="rId4" Type="http://schemas.openxmlformats.org/officeDocument/2006/relationships/slideMaster" Target="slideMasters/slideMaster3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9" Type="http://schemas.openxmlformats.org/officeDocument/2006/relationships/commentAuthors" Target="commentAuthors.xml"/><Relationship Id="rId18" Type="http://schemas.openxmlformats.org/officeDocument/2006/relationships/tableStyles" Target="tableStyles.xml"/><Relationship Id="rId17" Type="http://schemas.openxmlformats.org/officeDocument/2006/relationships/viewProps" Target="viewProps.xml"/><Relationship Id="rId16" Type="http://schemas.openxmlformats.org/officeDocument/2006/relationships/presProps" Target="presProps.xml"/><Relationship Id="rId15" Type="http://schemas.openxmlformats.org/officeDocument/2006/relationships/slide" Target="slides/slide10.xml"/><Relationship Id="rId14" Type="http://schemas.openxmlformats.org/officeDocument/2006/relationships/notesMaster" Target="notesMasters/notesMaster1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42926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5611108" y="0"/>
            <a:ext cx="4292600" cy="34409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895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990600" y="3300413"/>
            <a:ext cx="7924800" cy="2700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6513910"/>
            <a:ext cx="42926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5611108" y="6513910"/>
            <a:ext cx="4292600" cy="34409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en-US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emf"/><Relationship Id="rId3" Type="http://schemas.openxmlformats.org/officeDocument/2006/relationships/image" Target="../media/image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5" Type="http://schemas.openxmlformats.org/officeDocument/2006/relationships/image" Target="../media/image3.png"/><Relationship Id="rId4" Type="http://schemas.openxmlformats.org/officeDocument/2006/relationships/image" Target="../media/image2.emf"/><Relationship Id="rId3" Type="http://schemas.openxmlformats.org/officeDocument/2006/relationships/image" Target="../media/image1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4" Type="http://schemas.openxmlformats.org/officeDocument/2006/relationships/image" Target="../media/image6.png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630"/>
          <a:stretch>
            <a:fillRect/>
          </a:stretch>
        </p:blipFill>
        <p:spPr>
          <a:xfrm>
            <a:off x="0" y="3599245"/>
            <a:ext cx="5079208" cy="6650833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3300414" y="687059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姓名：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300414" y="7488253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性别：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300414" y="810349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年龄：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4202722" y="7239923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4202722" y="7857585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202722" y="8472828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占位符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02722" y="6778909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14" hasCustomPrompt="1"/>
          </p:nvPr>
        </p:nvSpPr>
        <p:spPr>
          <a:xfrm>
            <a:off x="4202722" y="7416584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15" hasCustomPrompt="1"/>
          </p:nvPr>
        </p:nvSpPr>
        <p:spPr>
          <a:xfrm>
            <a:off x="4202722" y="8045682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7" name="同侧圆角矩形 6"/>
          <p:cNvSpPr/>
          <p:nvPr userDrawn="1"/>
        </p:nvSpPr>
        <p:spPr>
          <a:xfrm rot="16200000">
            <a:off x="4432534" y="1432154"/>
            <a:ext cx="1293348" cy="3557587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2863" y="621636"/>
            <a:ext cx="872654" cy="1116394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3447992" y="2703115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000" b="0" i="0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体检报告</a:t>
            </a:r>
            <a:endParaRPr kumimoji="1" lang="zh-CN" altLang="en-US" sz="6000" b="0" i="0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形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92" y="4009439"/>
            <a:ext cx="3087525" cy="385941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3308023" y="873259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日期：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5" name="直接连接符 18"/>
          <p:cNvCxnSpPr/>
          <p:nvPr userDrawn="1"/>
        </p:nvCxnSpPr>
        <p:spPr>
          <a:xfrm>
            <a:off x="4210331" y="9101926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4210331" y="8674780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268413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InBody</a:t>
            </a:r>
            <a:endParaRPr lang="en-US" altLang="zh-CN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心电图</a:t>
            </a:r>
            <a:endParaRPr lang="en-US" altLang="zh-CN" sz="2400" b="1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实验室检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5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实验室检查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12153" y="976313"/>
            <a:ext cx="5729416" cy="82359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形 2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建议与指导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657025" y="1228497"/>
            <a:ext cx="5543949" cy="74864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片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25" y="8169275"/>
            <a:ext cx="19875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5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75" y="3721100"/>
            <a:ext cx="144145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1"/>
          <p:cNvSpPr txBox="1">
            <a:spLocks noChangeArrowheads="1"/>
          </p:cNvSpPr>
          <p:nvPr userDrawn="1"/>
        </p:nvSpPr>
        <p:spPr bwMode="auto">
          <a:xfrm>
            <a:off x="2720975" y="5162550"/>
            <a:ext cx="1416050" cy="8302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微信扫码</a:t>
            </a:r>
            <a:endParaRPr lang="en-US" altLang="zh-CN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关注我们</a:t>
            </a:r>
            <a:endParaRPr lang="zh-CN" altLang="en-US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封面">
    <p:bg>
      <p:bgPr>
        <a:solidFill>
          <a:schemeClr val="accent5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图形 8"/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3630"/>
          <a:stretch>
            <a:fillRect/>
          </a:stretch>
        </p:blipFill>
        <p:spPr>
          <a:xfrm>
            <a:off x="0" y="3599245"/>
            <a:ext cx="5079208" cy="6650833"/>
          </a:xfrm>
          <a:prstGeom prst="rect">
            <a:avLst/>
          </a:prstGeom>
        </p:spPr>
      </p:pic>
      <p:sp>
        <p:nvSpPr>
          <p:cNvPr id="2" name="文本框 1"/>
          <p:cNvSpPr txBox="1"/>
          <p:nvPr userDrawn="1"/>
        </p:nvSpPr>
        <p:spPr>
          <a:xfrm>
            <a:off x="3300414" y="6870591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姓名：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4" name="文本框 13"/>
          <p:cNvSpPr txBox="1"/>
          <p:nvPr userDrawn="1"/>
        </p:nvSpPr>
        <p:spPr>
          <a:xfrm>
            <a:off x="3300414" y="7488253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性别：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16" name="文本框 15"/>
          <p:cNvSpPr txBox="1"/>
          <p:nvPr userDrawn="1"/>
        </p:nvSpPr>
        <p:spPr>
          <a:xfrm>
            <a:off x="3300414" y="8103496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年龄：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7" name="直接连接符 16"/>
          <p:cNvCxnSpPr/>
          <p:nvPr userDrawn="1"/>
        </p:nvCxnSpPr>
        <p:spPr>
          <a:xfrm>
            <a:off x="4202722" y="7239923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直接连接符 17"/>
          <p:cNvCxnSpPr/>
          <p:nvPr userDrawn="1"/>
        </p:nvCxnSpPr>
        <p:spPr>
          <a:xfrm>
            <a:off x="4202722" y="7857585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连接符 18"/>
          <p:cNvCxnSpPr/>
          <p:nvPr userDrawn="1"/>
        </p:nvCxnSpPr>
        <p:spPr>
          <a:xfrm>
            <a:off x="4202722" y="8472828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0" name="文本占位符 23"/>
          <p:cNvSpPr>
            <a:spLocks noGrp="1"/>
          </p:cNvSpPr>
          <p:nvPr>
            <p:ph type="body" sz="quarter" idx="13" hasCustomPrompt="1"/>
          </p:nvPr>
        </p:nvSpPr>
        <p:spPr>
          <a:xfrm>
            <a:off x="4202722" y="6778909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1" name="文本占位符 23"/>
          <p:cNvSpPr>
            <a:spLocks noGrp="1"/>
          </p:cNvSpPr>
          <p:nvPr>
            <p:ph type="body" sz="quarter" idx="14" hasCustomPrompt="1"/>
          </p:nvPr>
        </p:nvSpPr>
        <p:spPr>
          <a:xfrm>
            <a:off x="4202722" y="7416584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22" name="文本占位符 23"/>
          <p:cNvSpPr>
            <a:spLocks noGrp="1"/>
          </p:cNvSpPr>
          <p:nvPr>
            <p:ph type="body" sz="quarter" idx="15" hasCustomPrompt="1"/>
          </p:nvPr>
        </p:nvSpPr>
        <p:spPr>
          <a:xfrm>
            <a:off x="4202722" y="8045682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  <p:sp>
        <p:nvSpPr>
          <p:cNvPr id="7" name="同侧圆角矩形 6"/>
          <p:cNvSpPr/>
          <p:nvPr userDrawn="1"/>
        </p:nvSpPr>
        <p:spPr>
          <a:xfrm rot="16200000">
            <a:off x="4432534" y="1432154"/>
            <a:ext cx="1293348" cy="3557587"/>
          </a:xfrm>
          <a:prstGeom prst="round2Same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 sz="4800" b="0" i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片 7"/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5662863" y="621636"/>
            <a:ext cx="872654" cy="1116394"/>
          </a:xfrm>
          <a:prstGeom prst="rect">
            <a:avLst/>
          </a:prstGeom>
        </p:spPr>
      </p:pic>
      <p:sp>
        <p:nvSpPr>
          <p:cNvPr id="10" name="文本框 9"/>
          <p:cNvSpPr txBox="1"/>
          <p:nvPr userDrawn="1"/>
        </p:nvSpPr>
        <p:spPr>
          <a:xfrm>
            <a:off x="3447992" y="2703115"/>
            <a:ext cx="3262432" cy="101566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zh-CN" altLang="en-US" sz="6000" b="0" i="0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体检报告</a:t>
            </a:r>
            <a:endParaRPr kumimoji="1" lang="zh-CN" altLang="en-US" sz="6000" b="0" i="0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1" name="图形 22"/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47992" y="4009439"/>
            <a:ext cx="3087525" cy="385941"/>
          </a:xfrm>
          <a:prstGeom prst="rect">
            <a:avLst/>
          </a:prstGeom>
        </p:spPr>
      </p:pic>
      <p:sp>
        <p:nvSpPr>
          <p:cNvPr id="13" name="文本框 12"/>
          <p:cNvSpPr txBox="1"/>
          <p:nvPr userDrawn="1"/>
        </p:nvSpPr>
        <p:spPr>
          <a:xfrm>
            <a:off x="3308023" y="8732594"/>
            <a:ext cx="8915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zh-CN" altLang="en-US" b="1" i="0" dirty="0">
                <a:latin typeface="微软雅黑 Light" panose="020B0502040204020203" pitchFamily="34" charset="-122"/>
                <a:ea typeface="微软雅黑 Light" panose="020B0502040204020203" pitchFamily="34" charset="-122"/>
              </a:rPr>
              <a:t>日期：</a:t>
            </a:r>
            <a:endParaRPr lang="zh-CN" altLang="en-US" b="1" i="0" dirty="0"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cxnSp>
        <p:nvCxnSpPr>
          <p:cNvPr id="15" name="直接连接符 18"/>
          <p:cNvCxnSpPr/>
          <p:nvPr userDrawn="1"/>
        </p:nvCxnSpPr>
        <p:spPr>
          <a:xfrm>
            <a:off x="4210331" y="9101926"/>
            <a:ext cx="2291756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3" name="文本占位符 23"/>
          <p:cNvSpPr>
            <a:spLocks noGrp="1"/>
          </p:cNvSpPr>
          <p:nvPr>
            <p:ph type="body" sz="quarter" idx="16" hasCustomPrompt="1"/>
          </p:nvPr>
        </p:nvSpPr>
        <p:spPr>
          <a:xfrm>
            <a:off x="4210331" y="8674780"/>
            <a:ext cx="2291756" cy="488471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00" b="1" i="0">
                <a:latin typeface="微软雅黑" panose="020B0503020204020204" pitchFamily="34" charset="-122"/>
                <a:ea typeface="微软雅黑" panose="020B0503020204020204" pitchFamily="34" charset="-122"/>
              </a:defRPr>
            </a:lvl1pPr>
          </a:lstStyle>
          <a:p>
            <a:pPr lvl="0"/>
            <a:r>
              <a:rPr lang="zh-CN" altLang="en-US" dirty="0"/>
              <a:t>请输入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268413" cy="46037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en-US" altLang="zh-CN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InBody</a:t>
            </a:r>
            <a:endParaRPr lang="en-US" altLang="zh-CN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心电图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0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3" name="矩形 2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4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矩形 4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4"/>
          <p:cNvSpPr txBox="1">
            <a:spLocks noChangeArrowheads="1"/>
          </p:cNvSpPr>
          <p:nvPr userDrawn="1"/>
        </p:nvSpPr>
        <p:spPr bwMode="auto">
          <a:xfrm>
            <a:off x="200025" y="177800"/>
            <a:ext cx="1107996" cy="461665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 dirty="0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心电图</a:t>
            </a:r>
            <a:endParaRPr lang="en-US" altLang="zh-CN" sz="2400" b="1" dirty="0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64292" y="1144418"/>
            <a:ext cx="5729416" cy="805837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实验室检查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7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14500" y="2476500"/>
            <a:ext cx="3429000" cy="495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5" name="图形 22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6" name="矩形 5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7" name="文本框 6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实验室检查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8" name="图形 6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图片占位符 9"/>
          <p:cNvSpPr>
            <a:spLocks noGrp="1"/>
          </p:cNvSpPr>
          <p:nvPr>
            <p:ph type="pic" sz="quarter" idx="10"/>
          </p:nvPr>
        </p:nvSpPr>
        <p:spPr>
          <a:xfrm>
            <a:off x="512153" y="976313"/>
            <a:ext cx="5729416" cy="8235934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endParaRPr lang="zh-CN" altLang="en-US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9383713"/>
            <a:ext cx="6858000" cy="522287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形 22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562225" y="9540875"/>
            <a:ext cx="1733550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" name="矩形 3"/>
          <p:cNvSpPr/>
          <p:nvPr userDrawn="1"/>
        </p:nvSpPr>
        <p:spPr>
          <a:xfrm>
            <a:off x="0" y="0"/>
            <a:ext cx="6858000" cy="81915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sp>
        <p:nvSpPr>
          <p:cNvPr id="6" name="文本框 5"/>
          <p:cNvSpPr txBox="1">
            <a:spLocks noChangeArrowheads="1"/>
          </p:cNvSpPr>
          <p:nvPr userDrawn="1"/>
        </p:nvSpPr>
        <p:spPr bwMode="auto">
          <a:xfrm>
            <a:off x="200025" y="177800"/>
            <a:ext cx="1724025" cy="4619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 b="1">
                <a:solidFill>
                  <a:srgbClr val="002F7C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建议与指导</a:t>
            </a:r>
            <a:endParaRPr lang="zh-CN" altLang="en-US" sz="2400" b="1">
              <a:solidFill>
                <a:srgbClr val="002F7C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7" name="图形 5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49963" y="109538"/>
            <a:ext cx="600075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占位符 23"/>
          <p:cNvSpPr>
            <a:spLocks noGrp="1"/>
          </p:cNvSpPr>
          <p:nvPr>
            <p:ph type="body" sz="quarter" idx="14"/>
          </p:nvPr>
        </p:nvSpPr>
        <p:spPr>
          <a:xfrm>
            <a:off x="657025" y="1228497"/>
            <a:ext cx="5543949" cy="7486488"/>
          </a:xfrm>
          <a:prstGeom prst="rect">
            <a:avLst/>
          </a:prstGeom>
          <a:ln>
            <a:solidFill>
              <a:schemeClr val="bg1">
                <a:lumMod val="75000"/>
              </a:schemeClr>
            </a:solidFill>
          </a:ln>
        </p:spPr>
        <p:txBody>
          <a:bodyPr/>
          <a:lstStyle>
            <a:lvl1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  <a:defRPr sz="1600">
                <a:latin typeface="微软雅黑 Light" panose="020B0502040204020203" pitchFamily="34" charset="-122"/>
                <a:ea typeface="微软雅黑 Light" panose="020B0502040204020203" pitchFamily="34" charset="-122"/>
              </a:defRPr>
            </a:lvl1pPr>
          </a:lstStyle>
          <a:p>
            <a:pPr lvl="0"/>
            <a:r>
              <a:rPr lang="zh-CN" altLang="en-US" noProof="1"/>
              <a:t>单击此处编辑母版文本样式</a:t>
            </a:r>
            <a:endParaRPr lang="zh-CN" altLang="en-US" noProof="1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医生建议与指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 userDrawn="1"/>
        </p:nvSpPr>
        <p:spPr>
          <a:xfrm>
            <a:off x="0" y="0"/>
            <a:ext cx="6858000" cy="99060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defRPr/>
            </a:pPr>
            <a:endParaRPr kumimoji="1" lang="zh-CN" altLang="en-US" noProof="1"/>
          </a:p>
        </p:txBody>
      </p:sp>
      <p:pic>
        <p:nvPicPr>
          <p:cNvPr id="3" name="图片 4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435225" y="8169275"/>
            <a:ext cx="1987550" cy="590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4" name="图片 5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8275" y="3721100"/>
            <a:ext cx="1441450" cy="14414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1"/>
          <p:cNvSpPr txBox="1">
            <a:spLocks noChangeArrowheads="1"/>
          </p:cNvSpPr>
          <p:nvPr userDrawn="1"/>
        </p:nvSpPr>
        <p:spPr bwMode="auto">
          <a:xfrm>
            <a:off x="2720975" y="5162550"/>
            <a:ext cx="1416050" cy="830263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1pPr>
            <a:lvl2pPr marL="742950" indent="-28575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2pPr>
            <a:lvl3pPr marL="11430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3pPr>
            <a:lvl4pPr marL="16002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4pPr>
            <a:lvl5pPr marL="2057400" indent="-228600"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等线" panose="02010600030101010101" pitchFamily="2" charset="-122"/>
              </a:defRPr>
            </a:lvl9pPr>
          </a:lstStyle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微信扫码</a:t>
            </a:r>
            <a:endParaRPr lang="en-US" altLang="zh-CN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  <a:p>
            <a:pPr eaLnBrk="1" hangingPunct="1">
              <a:defRPr/>
            </a:pPr>
            <a:r>
              <a:rPr lang="zh-CN" altLang="en-US" sz="240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关注我们</a:t>
            </a:r>
            <a:endParaRPr lang="zh-CN" altLang="en-US" sz="240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7" Type="http://schemas.openxmlformats.org/officeDocument/2006/relationships/theme" Target="../theme/theme2.xml"/><Relationship Id="rId6" Type="http://schemas.openxmlformats.org/officeDocument/2006/relationships/slideLayout" Target="../slideLayouts/slideLayout7.xml"/><Relationship Id="rId5" Type="http://schemas.openxmlformats.org/officeDocument/2006/relationships/slideLayout" Target="../slideLayouts/slideLayout6.xml"/><Relationship Id="rId4" Type="http://schemas.openxmlformats.org/officeDocument/2006/relationships/slideLayout" Target="../slideLayouts/slideLayout5.xml"/><Relationship Id="rId3" Type="http://schemas.openxmlformats.org/officeDocument/2006/relationships/slideLayout" Target="../slideLayouts/slideLayout4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/Relationships>
</file>

<file path=ppt/slideMasters/_rels/slideMaster3.xml.rels><?xml version="1.0" encoding="UTF-8" standalone="yes"?>
<Relationships xmlns="http://schemas.openxmlformats.org/package/2006/relationships"><Relationship Id="rId7" Type="http://schemas.openxmlformats.org/officeDocument/2006/relationships/theme" Target="../theme/theme3.xml"/><Relationship Id="rId6" Type="http://schemas.openxmlformats.org/officeDocument/2006/relationships/slideLayout" Target="../slideLayouts/slideLayout13.xml"/><Relationship Id="rId5" Type="http://schemas.openxmlformats.org/officeDocument/2006/relationships/slideLayout" Target="../slideLayouts/slideLayout12.xml"/><Relationship Id="rId4" Type="http://schemas.openxmlformats.org/officeDocument/2006/relationships/slideLayout" Target="../slideLayouts/slideLayout11.xml"/><Relationship Id="rId3" Type="http://schemas.openxmlformats.org/officeDocument/2006/relationships/slideLayout" Target="../slideLayouts/slideLayout10.xml"/><Relationship Id="rId2" Type="http://schemas.openxmlformats.org/officeDocument/2006/relationships/slideLayout" Target="../slideLayouts/slideLayout9.xml"/><Relationship Id="rId1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2E670-0285-414D-9D27-33719FC40C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8A809-A5DD-4999-A0BF-A878263E63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71488" y="527050"/>
            <a:ext cx="5915025" cy="19145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71488" y="2636838"/>
            <a:ext cx="5915025" cy="62849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二级</a:t>
            </a:r>
            <a:endParaRPr lang="zh-CN" altLang="en-US"/>
          </a:p>
          <a:p>
            <a:pPr lvl="2"/>
            <a:r>
              <a:rPr lang="zh-CN" altLang="en-US"/>
              <a:t>三级</a:t>
            </a:r>
            <a:endParaRPr lang="zh-CN" altLang="en-US"/>
          </a:p>
          <a:p>
            <a:pPr lvl="3"/>
            <a:r>
              <a:rPr lang="zh-CN" altLang="en-US"/>
              <a:t>四级</a:t>
            </a:r>
            <a:endParaRPr lang="zh-CN" altLang="en-US"/>
          </a:p>
          <a:p>
            <a:pPr lvl="4"/>
            <a:r>
              <a:rPr lang="zh-CN" altLang="en-US"/>
              <a:t>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71488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22E670-0285-414D-9D27-33719FC40C21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2271713" y="9182100"/>
            <a:ext cx="2314575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4843463" y="9182100"/>
            <a:ext cx="1543050" cy="52705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AC8A809-A5DD-4999-A0BF-A878263E6304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8" r:id="rId1"/>
    <p:sldLayoutId id="2147483659" r:id="rId2"/>
    <p:sldLayoutId id="2147483660" r:id="rId3"/>
    <p:sldLayoutId id="2147483661" r:id="rId4"/>
    <p:sldLayoutId id="2147483662" r:id="rId5"/>
    <p:sldLayoutId id="2147483663" r:id="rId6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.xml"/><Relationship Id="rId1" Type="http://schemas.openxmlformats.org/officeDocument/2006/relationships/image" Target="../media/image14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4.xml"/><Relationship Id="rId1" Type="http://schemas.openxmlformats.org/officeDocument/2006/relationships/image" Target="../media/image15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李秀芳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zh-CN" altLang="en-US" dirty="0"/>
              <a:t>女</a:t>
            </a:r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quarter" idx="15"/>
          </p:nvPr>
        </p:nvSpPr>
        <p:spPr/>
        <p:txBody>
          <a:bodyPr/>
          <a:lstStyle/>
          <a:p>
            <a:r>
              <a:rPr lang="en-US" altLang="zh-CN" dirty="0"/>
              <a:t>53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zh-CN" altLang="en-US" dirty="0"/>
              <a:t>2025年12月</a:t>
            </a:r>
            <a:r>
              <a:rPr lang="en-US" altLang="zh-CN" dirty="0"/>
              <a:t>11</a:t>
            </a:r>
            <a:r>
              <a:rPr lang="zh-CN" altLang="en-US" dirty="0"/>
              <a:t>日</a:t>
            </a:r>
            <a:endParaRPr lang="zh-CN" alt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片 2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3678" y="877343"/>
            <a:ext cx="6010643" cy="8511356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9041" y="827238"/>
            <a:ext cx="6019917" cy="8535703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34794" y="850897"/>
            <a:ext cx="5988411" cy="846052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14053" y="810228"/>
            <a:ext cx="5829894" cy="8565592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5109" y="896055"/>
            <a:ext cx="6007781" cy="8454007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3785" y="823811"/>
            <a:ext cx="6050430" cy="8543997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70645" y="813086"/>
            <a:ext cx="6516710" cy="860205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/>
          <p:cNvSpPr>
            <a:spLocks noGrp="1"/>
          </p:cNvSpPr>
          <p:nvPr>
            <p:ph type="body" sz="quarter" idx="14" hasCustomPrompt="1"/>
          </p:nvPr>
        </p:nvSpPr>
        <p:spPr>
          <a:xfrm>
            <a:off x="831215" y="850900"/>
            <a:ext cx="5369560" cy="7553325"/>
          </a:xfrm>
          <a:ln>
            <a:solidFill>
              <a:schemeClr val="accent5">
                <a:lumMod val="60000"/>
                <a:lumOff val="40000"/>
              </a:schemeClr>
            </a:solidFill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zh-CN" altLang="en-US" sz="8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80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dirty="0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>
              <a:buNone/>
            </a:pPr>
            <a:endParaRPr lang="zh-CN" altLang="en-US" sz="1400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852805" y="851535"/>
            <a:ext cx="5348605" cy="75704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存在问题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尿常规异常：考虑泌尿系感染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丙型肝炎抗体阳性：提示可能曾感染或正在感染丙型肝炎病毒。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血脂异常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建议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针对尿常规异常，建议到泌尿外科或肾内科就诊，以明确病因。遵医嘱使用抗菌药物，多饮水，增加尿量，通过尿液冲洗尿道，减少细菌滋生。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针对丙型肝炎抗体阳性，建议尽快到感染科或肝病科就诊，完善检查以明确诊断。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3.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低脂饮食，必要时降脂药物治疗。</a:t>
            </a: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4.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定期复查异常项目</a:t>
            </a: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algn="l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 noProof="1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endParaRPr lang="zh-CN" altLang="en-US">
              <a:latin typeface="微软雅黑" panose="020B0503020204020204" pitchFamily="34" charset="-122"/>
              <a:ea typeface="微软雅黑" panose="020B0503020204020204" pitchFamily="34" charset="-122"/>
              <a:sym typeface="+mn-ea"/>
            </a:endParaRPr>
          </a:p>
          <a:p>
            <a:pPr marL="0" indent="0" eaLnBrk="1" fontAlgn="auto" hangingPunct="1">
              <a:buFont typeface="Arial" panose="020B0604020202020204" pitchFamily="34" charset="0"/>
              <a:buNone/>
              <a:defRPr/>
            </a:pP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检查日期：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2025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年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12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月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11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日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    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总检医师：谈亚利</a:t>
            </a:r>
            <a:endParaRPr lang="zh-CN" altLang="en-US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000"/>
    </mc:Choice>
    <mc:Fallback>
      <p:transition/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自定义设计方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233</Words>
  <Application>WPS 演示</Application>
  <PresentationFormat>A4 纸张(210x297 毫米)</PresentationFormat>
  <Paragraphs>46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3</vt:i4>
      </vt:variant>
      <vt:variant>
        <vt:lpstr>幻灯片标题</vt:lpstr>
      </vt:variant>
      <vt:variant>
        <vt:i4>10</vt:i4>
      </vt:variant>
    </vt:vector>
  </HeadingPairs>
  <TitlesOfParts>
    <vt:vector size="22" baseType="lpstr">
      <vt:lpstr>Arial</vt:lpstr>
      <vt:lpstr>宋体</vt:lpstr>
      <vt:lpstr>Wingdings</vt:lpstr>
      <vt:lpstr>微软雅黑 Light</vt:lpstr>
      <vt:lpstr>微软雅黑</vt:lpstr>
      <vt:lpstr>等线</vt:lpstr>
      <vt:lpstr>Arial Unicode MS</vt:lpstr>
      <vt:lpstr>等线 Light</vt:lpstr>
      <vt:lpstr>Calibri</vt:lpstr>
      <vt:lpstr>Office Theme</vt:lpstr>
      <vt:lpstr>自定义设计方案</vt:lpstr>
      <vt:lpstr>自定义设计方案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Health Manage AI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2025 员工体检报告</dc:title>
  <dc:creator>Health Manage AI</dc:creator>
  <dc:subject>员工体检报告</dc:subject>
  <cp:lastModifiedBy>银杏舍医务室2</cp:lastModifiedBy>
  <cp:revision>12</cp:revision>
  <dcterms:created xsi:type="dcterms:W3CDTF">2025-12-03T01:56:00Z</dcterms:created>
  <dcterms:modified xsi:type="dcterms:W3CDTF">2025-12-11T03:02:43Z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F0221BC22E334851BF16945E562051FF</vt:lpwstr>
  </property>
  <property fmtid="{D5CDD505-2E9C-101B-9397-08002B2CF9AE}" pid="3" name="KSOProductBuildVer">
    <vt:lpwstr>2052-11.8.2.11019</vt:lpwstr>
  </property>
</Properties>
</file>