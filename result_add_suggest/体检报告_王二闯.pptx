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  <p:sldMasterId id="2147483657" r:id="rId4"/>
  </p:sldMasterIdLst>
  <p:sldIdLst>
    <p:sldId id="265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6" r:id="rId14"/>
    <p:sldId id="267" r:id="rId15"/>
  </p:sldIdLst>
  <p:sldSz cx="6858000" cy="9906000" type="A4"/>
  <p:notesSz cx="9906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298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5" Type="http://schemas.openxmlformats.org/officeDocument/2006/relationships/image" Target="../media/image3.png"/><Relationship Id="rId4" Type="http://schemas.openxmlformats.org/officeDocument/2006/relationships/image" Target="../media/image2.emf"/><Relationship Id="rId3" Type="http://schemas.openxmlformats.org/officeDocument/2006/relationships/image" Target="../media/image1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5" Type="http://schemas.openxmlformats.org/officeDocument/2006/relationships/image" Target="../media/image3.png"/><Relationship Id="rId4" Type="http://schemas.openxmlformats.org/officeDocument/2006/relationships/image" Target="../media/image2.emf"/><Relationship Id="rId3" Type="http://schemas.openxmlformats.org/officeDocument/2006/relationships/image" Target="../media/image1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封面"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形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3630"/>
          <a:stretch>
            <a:fillRect/>
          </a:stretch>
        </p:blipFill>
        <p:spPr>
          <a:xfrm>
            <a:off x="0" y="3599245"/>
            <a:ext cx="5079208" cy="6650833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3300414" y="6870591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b="1" i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姓名：</a:t>
            </a:r>
            <a:endParaRPr lang="zh-CN" altLang="en-US" b="1" i="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300414" y="7488253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b="1" i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性别：</a:t>
            </a:r>
            <a:endParaRPr lang="zh-CN" altLang="en-US" b="1" i="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3300414" y="8103496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b="1" i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年龄：</a:t>
            </a:r>
            <a:endParaRPr lang="zh-CN" altLang="en-US" b="1" i="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17" name="直接连接符 16"/>
          <p:cNvCxnSpPr/>
          <p:nvPr userDrawn="1"/>
        </p:nvCxnSpPr>
        <p:spPr>
          <a:xfrm>
            <a:off x="4202722" y="7239923"/>
            <a:ext cx="22917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 userDrawn="1"/>
        </p:nvCxnSpPr>
        <p:spPr>
          <a:xfrm>
            <a:off x="4202722" y="7857585"/>
            <a:ext cx="22917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 userDrawn="1"/>
        </p:nvCxnSpPr>
        <p:spPr>
          <a:xfrm>
            <a:off x="4202722" y="8472828"/>
            <a:ext cx="22917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文本占位符 23"/>
          <p:cNvSpPr>
            <a:spLocks noGrp="1"/>
          </p:cNvSpPr>
          <p:nvPr>
            <p:ph type="body" sz="quarter" idx="13" hasCustomPrompt="1"/>
          </p:nvPr>
        </p:nvSpPr>
        <p:spPr>
          <a:xfrm>
            <a:off x="4202722" y="6778909"/>
            <a:ext cx="2291756" cy="48847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1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请输入</a:t>
            </a:r>
            <a:endParaRPr lang="zh-CN" altLang="en-US" dirty="0"/>
          </a:p>
        </p:txBody>
      </p:sp>
      <p:sp>
        <p:nvSpPr>
          <p:cNvPr id="21" name="文本占位符 23"/>
          <p:cNvSpPr>
            <a:spLocks noGrp="1"/>
          </p:cNvSpPr>
          <p:nvPr>
            <p:ph type="body" sz="quarter" idx="14" hasCustomPrompt="1"/>
          </p:nvPr>
        </p:nvSpPr>
        <p:spPr>
          <a:xfrm>
            <a:off x="4202722" y="7416584"/>
            <a:ext cx="2291756" cy="48847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1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请输入</a:t>
            </a:r>
            <a:endParaRPr lang="zh-CN" altLang="en-US" dirty="0"/>
          </a:p>
        </p:txBody>
      </p:sp>
      <p:sp>
        <p:nvSpPr>
          <p:cNvPr id="22" name="文本占位符 23"/>
          <p:cNvSpPr>
            <a:spLocks noGrp="1"/>
          </p:cNvSpPr>
          <p:nvPr>
            <p:ph type="body" sz="quarter" idx="15" hasCustomPrompt="1"/>
          </p:nvPr>
        </p:nvSpPr>
        <p:spPr>
          <a:xfrm>
            <a:off x="4202722" y="8045682"/>
            <a:ext cx="2291756" cy="48847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1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请输入</a:t>
            </a:r>
            <a:endParaRPr lang="zh-CN" altLang="en-US" dirty="0"/>
          </a:p>
        </p:txBody>
      </p:sp>
      <p:sp>
        <p:nvSpPr>
          <p:cNvPr id="7" name="同侧圆角矩形 6"/>
          <p:cNvSpPr/>
          <p:nvPr userDrawn="1"/>
        </p:nvSpPr>
        <p:spPr>
          <a:xfrm rot="16200000">
            <a:off x="4432534" y="1432154"/>
            <a:ext cx="1293348" cy="3557587"/>
          </a:xfrm>
          <a:prstGeom prst="round2Same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4800" b="0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662863" y="621636"/>
            <a:ext cx="872654" cy="1116394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3447992" y="2703115"/>
            <a:ext cx="326243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6000" b="0" i="0" dirty="0">
                <a:solidFill>
                  <a:srgbClr val="002F7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体检报告</a:t>
            </a:r>
            <a:endParaRPr kumimoji="1" lang="zh-CN" altLang="en-US" sz="6000" b="0" i="0" dirty="0">
              <a:solidFill>
                <a:srgbClr val="002F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形 22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7992" y="4009439"/>
            <a:ext cx="3087525" cy="385941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3308023" y="8732594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b="1" i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日期：</a:t>
            </a:r>
            <a:endParaRPr lang="zh-CN" altLang="en-US" b="1" i="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15" name="直接连接符 18"/>
          <p:cNvCxnSpPr/>
          <p:nvPr userDrawn="1"/>
        </p:nvCxnSpPr>
        <p:spPr>
          <a:xfrm>
            <a:off x="4210331" y="9101926"/>
            <a:ext cx="22917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文本占位符 23"/>
          <p:cNvSpPr>
            <a:spLocks noGrp="1"/>
          </p:cNvSpPr>
          <p:nvPr>
            <p:ph type="body" sz="quarter" idx="16" hasCustomPrompt="1"/>
          </p:nvPr>
        </p:nvSpPr>
        <p:spPr>
          <a:xfrm>
            <a:off x="4210331" y="8674780"/>
            <a:ext cx="2291756" cy="48847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1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请输入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心电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2476500"/>
            <a:ext cx="34290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 userDrawn="1"/>
        </p:nvSpPr>
        <p:spPr>
          <a:xfrm>
            <a:off x="0" y="9383713"/>
            <a:ext cx="6858000" cy="52228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pic>
        <p:nvPicPr>
          <p:cNvPr id="4" name="图形 2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225" y="9540875"/>
            <a:ext cx="1733550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 userDrawn="1"/>
        </p:nvSpPr>
        <p:spPr>
          <a:xfrm>
            <a:off x="0" y="0"/>
            <a:ext cx="6858000" cy="8191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sp>
        <p:nvSpPr>
          <p:cNvPr id="6" name="文本框 4"/>
          <p:cNvSpPr txBox="1">
            <a:spLocks noChangeArrowheads="1"/>
          </p:cNvSpPr>
          <p:nvPr userDrawn="1"/>
        </p:nvSpPr>
        <p:spPr bwMode="auto">
          <a:xfrm>
            <a:off x="200025" y="177800"/>
            <a:ext cx="1268413" cy="4603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>
                <a:solidFill>
                  <a:srgbClr val="002F7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InBody</a:t>
            </a:r>
            <a:endParaRPr lang="en-US" altLang="zh-CN" sz="2400" b="1">
              <a:solidFill>
                <a:srgbClr val="002F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形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963" y="109538"/>
            <a:ext cx="60007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图片占位符 9"/>
          <p:cNvSpPr>
            <a:spLocks noGrp="1"/>
          </p:cNvSpPr>
          <p:nvPr>
            <p:ph type="pic" sz="quarter" idx="10"/>
          </p:nvPr>
        </p:nvSpPr>
        <p:spPr>
          <a:xfrm>
            <a:off x="564292" y="1144418"/>
            <a:ext cx="5729416" cy="80583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心电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2476500"/>
            <a:ext cx="34290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 userDrawn="1"/>
        </p:nvSpPr>
        <p:spPr>
          <a:xfrm>
            <a:off x="0" y="9383713"/>
            <a:ext cx="6858000" cy="52228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pic>
        <p:nvPicPr>
          <p:cNvPr id="4" name="图形 2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225" y="9540875"/>
            <a:ext cx="1733550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 userDrawn="1"/>
        </p:nvSpPr>
        <p:spPr>
          <a:xfrm>
            <a:off x="0" y="0"/>
            <a:ext cx="6858000" cy="8191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sp>
        <p:nvSpPr>
          <p:cNvPr id="6" name="文本框 4"/>
          <p:cNvSpPr txBox="1">
            <a:spLocks noChangeArrowheads="1"/>
          </p:cNvSpPr>
          <p:nvPr userDrawn="1"/>
        </p:nvSpPr>
        <p:spPr bwMode="auto">
          <a:xfrm>
            <a:off x="200025" y="177800"/>
            <a:ext cx="1107996" cy="46166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400" b="1" dirty="0">
                <a:solidFill>
                  <a:srgbClr val="002F7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心电图</a:t>
            </a:r>
            <a:endParaRPr lang="en-US" altLang="zh-CN" sz="2400" b="1" dirty="0">
              <a:solidFill>
                <a:srgbClr val="002F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形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963" y="109538"/>
            <a:ext cx="60007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图片占位符 9"/>
          <p:cNvSpPr>
            <a:spLocks noGrp="1"/>
          </p:cNvSpPr>
          <p:nvPr>
            <p:ph type="pic" sz="quarter" idx="10"/>
          </p:nvPr>
        </p:nvSpPr>
        <p:spPr>
          <a:xfrm>
            <a:off x="564292" y="1144418"/>
            <a:ext cx="5729416" cy="80583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实验室检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7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2476500"/>
            <a:ext cx="34290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 userDrawn="1"/>
        </p:nvSpPr>
        <p:spPr>
          <a:xfrm>
            <a:off x="0" y="9383713"/>
            <a:ext cx="6858000" cy="52228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pic>
        <p:nvPicPr>
          <p:cNvPr id="5" name="图形 2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225" y="9540875"/>
            <a:ext cx="1733550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 userDrawn="1"/>
        </p:nvSpPr>
        <p:spPr>
          <a:xfrm>
            <a:off x="0" y="0"/>
            <a:ext cx="6858000" cy="8191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200025" y="177800"/>
            <a:ext cx="1724025" cy="4619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400" b="1">
                <a:solidFill>
                  <a:srgbClr val="002F7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实验室检查</a:t>
            </a:r>
            <a:endParaRPr lang="zh-CN" altLang="en-US" sz="2400" b="1">
              <a:solidFill>
                <a:srgbClr val="002F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形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963" y="109538"/>
            <a:ext cx="60007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图片占位符 9"/>
          <p:cNvSpPr>
            <a:spLocks noGrp="1"/>
          </p:cNvSpPr>
          <p:nvPr>
            <p:ph type="pic" sz="quarter" idx="10"/>
          </p:nvPr>
        </p:nvSpPr>
        <p:spPr>
          <a:xfrm>
            <a:off x="512153" y="976313"/>
            <a:ext cx="5729416" cy="82359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医生建议与指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9383713"/>
            <a:ext cx="6858000" cy="52228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pic>
        <p:nvPicPr>
          <p:cNvPr id="3" name="图形 2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225" y="9540875"/>
            <a:ext cx="1733550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 userDrawn="1"/>
        </p:nvSpPr>
        <p:spPr>
          <a:xfrm>
            <a:off x="0" y="0"/>
            <a:ext cx="6858000" cy="8191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200025" y="177800"/>
            <a:ext cx="1724025" cy="4619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400" b="1">
                <a:solidFill>
                  <a:srgbClr val="002F7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建议与指导</a:t>
            </a:r>
            <a:endParaRPr lang="zh-CN" altLang="en-US" sz="2400" b="1">
              <a:solidFill>
                <a:srgbClr val="002F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形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963" y="109538"/>
            <a:ext cx="60007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占位符 23"/>
          <p:cNvSpPr>
            <a:spLocks noGrp="1"/>
          </p:cNvSpPr>
          <p:nvPr>
            <p:ph type="body" sz="quarter" idx="14"/>
          </p:nvPr>
        </p:nvSpPr>
        <p:spPr>
          <a:xfrm>
            <a:off x="657025" y="1228497"/>
            <a:ext cx="5543949" cy="748648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 sz="16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医生建议与指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6858000" cy="9906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pic>
        <p:nvPicPr>
          <p:cNvPr id="3" name="图片 4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5225" y="8169275"/>
            <a:ext cx="198755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5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8275" y="3721100"/>
            <a:ext cx="1441450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1"/>
          <p:cNvSpPr txBox="1">
            <a:spLocks noChangeArrowheads="1"/>
          </p:cNvSpPr>
          <p:nvPr userDrawn="1"/>
        </p:nvSpPr>
        <p:spPr bwMode="auto">
          <a:xfrm>
            <a:off x="2720975" y="5162550"/>
            <a:ext cx="1416050" cy="8302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4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微信扫码</a:t>
            </a:r>
            <a:endParaRPr lang="en-US" altLang="zh-CN" sz="240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eaLnBrk="1" hangingPunct="1">
              <a:defRPr/>
            </a:pPr>
            <a:r>
              <a:rPr lang="zh-CN" altLang="en-US" sz="24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关注我们</a:t>
            </a:r>
            <a:endParaRPr lang="zh-CN" altLang="en-US" sz="240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封面"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形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3630"/>
          <a:stretch>
            <a:fillRect/>
          </a:stretch>
        </p:blipFill>
        <p:spPr>
          <a:xfrm>
            <a:off x="0" y="3599245"/>
            <a:ext cx="5079208" cy="6650833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3300414" y="6870591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b="1" i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姓名：</a:t>
            </a:r>
            <a:endParaRPr lang="zh-CN" altLang="en-US" b="1" i="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300414" y="7488253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b="1" i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性别：</a:t>
            </a:r>
            <a:endParaRPr lang="zh-CN" altLang="en-US" b="1" i="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3300414" y="8103496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b="1" i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年龄：</a:t>
            </a:r>
            <a:endParaRPr lang="zh-CN" altLang="en-US" b="1" i="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17" name="直接连接符 16"/>
          <p:cNvCxnSpPr/>
          <p:nvPr userDrawn="1"/>
        </p:nvCxnSpPr>
        <p:spPr>
          <a:xfrm>
            <a:off x="4202722" y="7239923"/>
            <a:ext cx="22917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 userDrawn="1"/>
        </p:nvCxnSpPr>
        <p:spPr>
          <a:xfrm>
            <a:off x="4202722" y="7857585"/>
            <a:ext cx="22917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 userDrawn="1"/>
        </p:nvCxnSpPr>
        <p:spPr>
          <a:xfrm>
            <a:off x="4202722" y="8472828"/>
            <a:ext cx="22917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文本占位符 23"/>
          <p:cNvSpPr>
            <a:spLocks noGrp="1"/>
          </p:cNvSpPr>
          <p:nvPr>
            <p:ph type="body" sz="quarter" idx="13" hasCustomPrompt="1"/>
          </p:nvPr>
        </p:nvSpPr>
        <p:spPr>
          <a:xfrm>
            <a:off x="4202722" y="6778909"/>
            <a:ext cx="2291756" cy="48847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1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请输入</a:t>
            </a:r>
            <a:endParaRPr lang="zh-CN" altLang="en-US" dirty="0"/>
          </a:p>
        </p:txBody>
      </p:sp>
      <p:sp>
        <p:nvSpPr>
          <p:cNvPr id="21" name="文本占位符 23"/>
          <p:cNvSpPr>
            <a:spLocks noGrp="1"/>
          </p:cNvSpPr>
          <p:nvPr>
            <p:ph type="body" sz="quarter" idx="14" hasCustomPrompt="1"/>
          </p:nvPr>
        </p:nvSpPr>
        <p:spPr>
          <a:xfrm>
            <a:off x="4202722" y="7416584"/>
            <a:ext cx="2291756" cy="48847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1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请输入</a:t>
            </a:r>
            <a:endParaRPr lang="zh-CN" altLang="en-US" dirty="0"/>
          </a:p>
        </p:txBody>
      </p:sp>
      <p:sp>
        <p:nvSpPr>
          <p:cNvPr id="22" name="文本占位符 23"/>
          <p:cNvSpPr>
            <a:spLocks noGrp="1"/>
          </p:cNvSpPr>
          <p:nvPr>
            <p:ph type="body" sz="quarter" idx="15" hasCustomPrompt="1"/>
          </p:nvPr>
        </p:nvSpPr>
        <p:spPr>
          <a:xfrm>
            <a:off x="4202722" y="8045682"/>
            <a:ext cx="2291756" cy="48847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1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请输入</a:t>
            </a:r>
            <a:endParaRPr lang="zh-CN" altLang="en-US" dirty="0"/>
          </a:p>
        </p:txBody>
      </p:sp>
      <p:sp>
        <p:nvSpPr>
          <p:cNvPr id="7" name="同侧圆角矩形 6"/>
          <p:cNvSpPr/>
          <p:nvPr userDrawn="1"/>
        </p:nvSpPr>
        <p:spPr>
          <a:xfrm rot="16200000">
            <a:off x="4432534" y="1432154"/>
            <a:ext cx="1293348" cy="3557587"/>
          </a:xfrm>
          <a:prstGeom prst="round2Same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4800" b="0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662863" y="621636"/>
            <a:ext cx="872654" cy="1116394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3447992" y="2703115"/>
            <a:ext cx="326243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6000" b="0" i="0" dirty="0">
                <a:solidFill>
                  <a:srgbClr val="002F7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体检报告</a:t>
            </a:r>
            <a:endParaRPr kumimoji="1" lang="zh-CN" altLang="en-US" sz="6000" b="0" i="0" dirty="0">
              <a:solidFill>
                <a:srgbClr val="002F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形 22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7992" y="4009439"/>
            <a:ext cx="3087525" cy="385941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3308023" y="8732594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b="1" i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日期：</a:t>
            </a:r>
            <a:endParaRPr lang="zh-CN" altLang="en-US" b="1" i="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15" name="直接连接符 18"/>
          <p:cNvCxnSpPr/>
          <p:nvPr userDrawn="1"/>
        </p:nvCxnSpPr>
        <p:spPr>
          <a:xfrm>
            <a:off x="4210331" y="9101926"/>
            <a:ext cx="22917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文本占位符 23"/>
          <p:cNvSpPr>
            <a:spLocks noGrp="1"/>
          </p:cNvSpPr>
          <p:nvPr>
            <p:ph type="body" sz="quarter" idx="16" hasCustomPrompt="1"/>
          </p:nvPr>
        </p:nvSpPr>
        <p:spPr>
          <a:xfrm>
            <a:off x="4210331" y="8674780"/>
            <a:ext cx="2291756" cy="48847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1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请输入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心电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2476500"/>
            <a:ext cx="34290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 userDrawn="1"/>
        </p:nvSpPr>
        <p:spPr>
          <a:xfrm>
            <a:off x="0" y="9383713"/>
            <a:ext cx="6858000" cy="52228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pic>
        <p:nvPicPr>
          <p:cNvPr id="4" name="图形 2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225" y="9540875"/>
            <a:ext cx="1733550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 userDrawn="1"/>
        </p:nvSpPr>
        <p:spPr>
          <a:xfrm>
            <a:off x="0" y="0"/>
            <a:ext cx="6858000" cy="8191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sp>
        <p:nvSpPr>
          <p:cNvPr id="6" name="文本框 4"/>
          <p:cNvSpPr txBox="1">
            <a:spLocks noChangeArrowheads="1"/>
          </p:cNvSpPr>
          <p:nvPr userDrawn="1"/>
        </p:nvSpPr>
        <p:spPr bwMode="auto">
          <a:xfrm>
            <a:off x="200025" y="177800"/>
            <a:ext cx="1268413" cy="4603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>
                <a:solidFill>
                  <a:srgbClr val="002F7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InBody</a:t>
            </a:r>
            <a:endParaRPr lang="en-US" altLang="zh-CN" sz="2400" b="1">
              <a:solidFill>
                <a:srgbClr val="002F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形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963" y="109538"/>
            <a:ext cx="60007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图片占位符 9"/>
          <p:cNvSpPr>
            <a:spLocks noGrp="1"/>
          </p:cNvSpPr>
          <p:nvPr>
            <p:ph type="pic" sz="quarter" idx="10"/>
          </p:nvPr>
        </p:nvSpPr>
        <p:spPr>
          <a:xfrm>
            <a:off x="564292" y="1144418"/>
            <a:ext cx="5729416" cy="80583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心电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2476500"/>
            <a:ext cx="34290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 userDrawn="1"/>
        </p:nvSpPr>
        <p:spPr>
          <a:xfrm>
            <a:off x="0" y="9383713"/>
            <a:ext cx="6858000" cy="52228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pic>
        <p:nvPicPr>
          <p:cNvPr id="4" name="图形 2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225" y="9540875"/>
            <a:ext cx="1733550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 userDrawn="1"/>
        </p:nvSpPr>
        <p:spPr>
          <a:xfrm>
            <a:off x="0" y="0"/>
            <a:ext cx="6858000" cy="8191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sp>
        <p:nvSpPr>
          <p:cNvPr id="6" name="文本框 4"/>
          <p:cNvSpPr txBox="1">
            <a:spLocks noChangeArrowheads="1"/>
          </p:cNvSpPr>
          <p:nvPr userDrawn="1"/>
        </p:nvSpPr>
        <p:spPr bwMode="auto">
          <a:xfrm>
            <a:off x="200025" y="177800"/>
            <a:ext cx="1107996" cy="46166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400" b="1" dirty="0">
                <a:solidFill>
                  <a:srgbClr val="002F7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心电图</a:t>
            </a:r>
            <a:endParaRPr lang="en-US" altLang="zh-CN" sz="2400" b="1" dirty="0">
              <a:solidFill>
                <a:srgbClr val="002F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形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963" y="109538"/>
            <a:ext cx="60007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图片占位符 9"/>
          <p:cNvSpPr>
            <a:spLocks noGrp="1"/>
          </p:cNvSpPr>
          <p:nvPr>
            <p:ph type="pic" sz="quarter" idx="10"/>
          </p:nvPr>
        </p:nvSpPr>
        <p:spPr>
          <a:xfrm>
            <a:off x="564292" y="1144418"/>
            <a:ext cx="5729416" cy="80583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实验室检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7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2476500"/>
            <a:ext cx="34290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 userDrawn="1"/>
        </p:nvSpPr>
        <p:spPr>
          <a:xfrm>
            <a:off x="0" y="9383713"/>
            <a:ext cx="6858000" cy="52228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pic>
        <p:nvPicPr>
          <p:cNvPr id="5" name="图形 2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225" y="9540875"/>
            <a:ext cx="1733550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 userDrawn="1"/>
        </p:nvSpPr>
        <p:spPr>
          <a:xfrm>
            <a:off x="0" y="0"/>
            <a:ext cx="6858000" cy="8191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200025" y="177800"/>
            <a:ext cx="1724025" cy="4619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400" b="1">
                <a:solidFill>
                  <a:srgbClr val="002F7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实验室检查</a:t>
            </a:r>
            <a:endParaRPr lang="zh-CN" altLang="en-US" sz="2400" b="1">
              <a:solidFill>
                <a:srgbClr val="002F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形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963" y="109538"/>
            <a:ext cx="60007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图片占位符 9"/>
          <p:cNvSpPr>
            <a:spLocks noGrp="1"/>
          </p:cNvSpPr>
          <p:nvPr>
            <p:ph type="pic" sz="quarter" idx="10"/>
          </p:nvPr>
        </p:nvSpPr>
        <p:spPr>
          <a:xfrm>
            <a:off x="512153" y="976313"/>
            <a:ext cx="5729416" cy="82359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noProof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医生建议与指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9383713"/>
            <a:ext cx="6858000" cy="52228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pic>
        <p:nvPicPr>
          <p:cNvPr id="3" name="图形 2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225" y="9540875"/>
            <a:ext cx="1733550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 userDrawn="1"/>
        </p:nvSpPr>
        <p:spPr>
          <a:xfrm>
            <a:off x="0" y="0"/>
            <a:ext cx="6858000" cy="8191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200025" y="177800"/>
            <a:ext cx="1724025" cy="4619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400" b="1">
                <a:solidFill>
                  <a:srgbClr val="002F7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建议与指导</a:t>
            </a:r>
            <a:endParaRPr lang="zh-CN" altLang="en-US" sz="2400" b="1">
              <a:solidFill>
                <a:srgbClr val="002F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形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963" y="109538"/>
            <a:ext cx="60007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占位符 23"/>
          <p:cNvSpPr>
            <a:spLocks noGrp="1"/>
          </p:cNvSpPr>
          <p:nvPr>
            <p:ph type="body" sz="quarter" idx="14"/>
          </p:nvPr>
        </p:nvSpPr>
        <p:spPr>
          <a:xfrm>
            <a:off x="657025" y="1228497"/>
            <a:ext cx="5543949" cy="748648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 sz="16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医生建议与指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6858000" cy="9906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pic>
        <p:nvPicPr>
          <p:cNvPr id="3" name="图片 4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5225" y="8169275"/>
            <a:ext cx="198755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5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8275" y="3721100"/>
            <a:ext cx="1441450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1"/>
          <p:cNvSpPr txBox="1">
            <a:spLocks noChangeArrowheads="1"/>
          </p:cNvSpPr>
          <p:nvPr userDrawn="1"/>
        </p:nvSpPr>
        <p:spPr bwMode="auto">
          <a:xfrm>
            <a:off x="2720975" y="5162550"/>
            <a:ext cx="1416050" cy="8302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4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微信扫码</a:t>
            </a:r>
            <a:endParaRPr lang="en-US" altLang="zh-CN" sz="240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eaLnBrk="1" hangingPunct="1">
              <a:defRPr/>
            </a:pPr>
            <a:r>
              <a:rPr lang="zh-CN" altLang="en-US" sz="24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关注我们</a:t>
            </a:r>
            <a:endParaRPr lang="zh-CN" altLang="en-US" sz="240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7" Type="http://schemas.openxmlformats.org/officeDocument/2006/relationships/theme" Target="../theme/theme2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7" Type="http://schemas.openxmlformats.org/officeDocument/2006/relationships/theme" Target="../theme/theme3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0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22E670-0285-414D-9D27-33719FC40C2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C8A809-A5DD-4999-A0BF-A878263E630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22E670-0285-414D-9D27-33719FC40C2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C8A809-A5DD-4999-A0BF-A878263E630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6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王二闯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男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dirty="0"/>
              <a:t>35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zh-CN" altLang="en-US" dirty="0"/>
              <a:t>2025年12月03日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900" y="889000"/>
            <a:ext cx="5955036" cy="84201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900" y="889000"/>
            <a:ext cx="5955036" cy="842010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900" y="889000"/>
            <a:ext cx="5955036" cy="84201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900" y="889000"/>
            <a:ext cx="5955036" cy="842010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900" y="889000"/>
            <a:ext cx="5955036" cy="842010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900" y="889000"/>
            <a:ext cx="5955036" cy="842010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900" y="889000"/>
            <a:ext cx="5955036" cy="842010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900" y="889000"/>
            <a:ext cx="5955036" cy="842010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4" hasCustomPrompt="1"/>
          </p:nvPr>
        </p:nvSpPr>
        <p:spPr>
          <a:xfrm>
            <a:off x="657225" y="850900"/>
            <a:ext cx="5543550" cy="8110538"/>
          </a:xfrm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/>
          <a:lstStyle/>
          <a:p>
            <a:pPr marL="0" indent="0">
              <a:buNone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存在问题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>
              <a:buNone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1.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乙肝病毒感染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>
              <a:buNone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建议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>
              <a:buNone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1.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尽快到医院感染科或肝病专科就诊，进一步进行乙肝五项等检查，以明确乙肝病毒感染的具体情况。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>
              <a:buNone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注意休息，避免劳累，饮食清淡。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>
              <a:buNone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绝对禁酒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>
              <a:buNone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4.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定期复查，动态监测病情变化。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eaLnBrk="1" fontAlgn="auto" hangingPunct="1">
              <a:buFont typeface="Arial" panose="020B0604020202020204" pitchFamily="34" charset="0"/>
              <a:buNone/>
              <a:defRPr/>
            </a:pPr>
            <a:endParaRPr lang="zh-CN" altLang="en-US" sz="14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5330" y="9103995"/>
            <a:ext cx="5469890" cy="289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微软雅黑" panose="020B0503020204020204" pitchFamily="34" charset="-122"/>
                <a:cs typeface="微软雅黑" panose="020B0503020204020204" pitchFamily="34" charset="-122"/>
              </a:rPr>
              <a:t>检查日期：</a:t>
            </a:r>
            <a:r>
              <a:rPr sz="1800" spc="-10" dirty="0">
                <a:latin typeface="微软雅黑" panose="020B0503020204020204" pitchFamily="34" charset="-122"/>
                <a:cs typeface="微软雅黑" panose="020B0503020204020204" pitchFamily="34" charset="-122"/>
              </a:rPr>
              <a:t>2025</a:t>
            </a:r>
            <a:r>
              <a:rPr sz="1800" dirty="0">
                <a:latin typeface="微软雅黑" panose="020B0503020204020204" pitchFamily="34" charset="-122"/>
                <a:cs typeface="微软雅黑" panose="020B0503020204020204" pitchFamily="34" charset="-122"/>
              </a:rPr>
              <a:t>年</a:t>
            </a:r>
            <a:r>
              <a:rPr sz="1800" spc="-10" dirty="0">
                <a:latin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en-US" sz="1800" spc="-10" dirty="0">
                <a:latin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sz="1800" dirty="0">
                <a:latin typeface="微软雅黑" panose="020B0503020204020204" pitchFamily="34" charset="-122"/>
                <a:cs typeface="微软雅黑" panose="020B0503020204020204" pitchFamily="34" charset="-122"/>
              </a:rPr>
              <a:t>月</a:t>
            </a:r>
            <a:r>
              <a:rPr lang="en-US" sz="1800" spc="-10" dirty="0">
                <a:latin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sz="1800" spc="-50" dirty="0">
                <a:latin typeface="微软雅黑" panose="020B0503020204020204" pitchFamily="34" charset="-122"/>
                <a:cs typeface="微软雅黑" panose="020B0503020204020204" pitchFamily="34" charset="-122"/>
              </a:rPr>
              <a:t>日</a:t>
            </a:r>
            <a:r>
              <a:rPr lang="en-US" altLang="en-US" sz="1800" spc="-50" dirty="0">
                <a:latin typeface="微软雅黑" panose="020B0503020204020204" pitchFamily="34" charset="-122"/>
                <a:cs typeface="微软雅黑" panose="020B0503020204020204" pitchFamily="34" charset="-122"/>
              </a:rPr>
              <a:t>      </a:t>
            </a:r>
            <a:r>
              <a:rPr sz="1800" spc="-10" dirty="0"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总检医师：谈亚利</a:t>
            </a:r>
            <a:endParaRPr sz="180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</Words>
  <Application>WPS 演示</Application>
  <PresentationFormat>A4 纸张(210x297 毫米)</PresentationFormat>
  <Paragraphs>19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11</vt:i4>
      </vt:variant>
    </vt:vector>
  </HeadingPairs>
  <TitlesOfParts>
    <vt:vector size="23" baseType="lpstr">
      <vt:lpstr>Arial</vt:lpstr>
      <vt:lpstr>宋体</vt:lpstr>
      <vt:lpstr>Wingdings</vt:lpstr>
      <vt:lpstr>微软雅黑 Light</vt:lpstr>
      <vt:lpstr>微软雅黑</vt:lpstr>
      <vt:lpstr>等线</vt:lpstr>
      <vt:lpstr>Arial Unicode MS</vt:lpstr>
      <vt:lpstr>等线 Light</vt:lpstr>
      <vt:lpstr>Calibri</vt:lpstr>
      <vt:lpstr>Office Theme</vt:lpstr>
      <vt:lpstr>自定义设计方案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Health Manage 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2025 员工体检报告</dc:title>
  <dc:creator>Health Manage AI</dc:creator>
  <dc:subject>员工体检报告</dc:subject>
  <cp:lastModifiedBy>康复诊室</cp:lastModifiedBy>
  <cp:revision>5</cp:revision>
  <dcterms:created xsi:type="dcterms:W3CDTF">2025-12-03T01:56:00Z</dcterms:created>
  <dcterms:modified xsi:type="dcterms:W3CDTF">2025-12-06T06:47:08Z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63CA3C67BB3D49989AC4FFBDD3A2F269</vt:lpwstr>
  </property>
  <property fmtid="{D5CDD505-2E9C-101B-9397-08002B2CF9AE}" pid="3" name="KSOProductBuildVer">
    <vt:lpwstr>2052-11.8.2.11019</vt:lpwstr>
  </property>
</Properties>
</file>