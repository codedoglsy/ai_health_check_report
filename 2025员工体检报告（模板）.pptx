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  <p:sldMasterId id="2147483664" r:id="rId3"/>
  </p:sldMasterIdLst>
  <p:notesMasterIdLst>
    <p:notesMasterId r:id="rId8"/>
  </p:notesMasterIdLst>
  <p:sldIdLst>
    <p:sldId id="311" r:id="rId4"/>
    <p:sldId id="352" r:id="rId5"/>
    <p:sldId id="290" r:id="rId6"/>
    <p:sldId id="282" r:id="rId7"/>
  </p:sldIdLst>
  <p:sldSz cx="6858000" cy="9906000" type="A4"/>
  <p:notesSz cx="6797675" cy="9928225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5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般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 userDrawn="1"/>
        </p:nvSpPr>
        <p:spPr>
          <a:xfrm>
            <a:off x="204201" y="178907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一般检查</a:t>
            </a:r>
          </a:p>
        </p:txBody>
      </p:sp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711707" y="1269077"/>
          <a:ext cx="5577848" cy="757528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349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8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身高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(cm)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体重指数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基础代谢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(kcal)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肌肉率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体脂肪率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内脏脂肪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体年龄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岁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收缩压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舒张压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3302000" y="143392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302000" y="218404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302000" y="2934177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302000" y="368430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302000" y="4434433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302000" y="5184561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3302000" y="5934689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302000" y="6684817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301998" y="743494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3301999" y="818507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6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科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640076" y="1203484"/>
          <a:ext cx="5577848" cy="7963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01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12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病史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心率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心音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肺部听诊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肝脏触诊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脾脏触诊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肾脏叩诊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神经反射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其他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2561037" y="1266096"/>
            <a:ext cx="3564932" cy="2190912"/>
          </a:xfrm>
          <a:prstGeom prst="rect">
            <a:avLst/>
          </a:prstGeom>
        </p:spPr>
        <p:txBody>
          <a:bodyPr anchor="t"/>
          <a:lstStyle>
            <a:lvl1pPr marL="0" indent="0" algn="just">
              <a:lnSpc>
                <a:spcPct val="150000"/>
              </a:lnSpc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2561037" y="365408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561037" y="428946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2561037" y="4896372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2561037" y="5527744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2561037" y="6143466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561037" y="6740087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561037" y="7361623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561035" y="7998938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2561035" y="8582865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890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内科检查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27"/>
          <p:cNvGraphicFramePr>
            <a:graphicFrameLocks noGrp="1"/>
          </p:cNvGraphicFramePr>
          <p:nvPr userDrawn="1"/>
        </p:nvGraphicFramePr>
        <p:xfrm>
          <a:off x="498150" y="7998622"/>
          <a:ext cx="5992238" cy="1151662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84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98150" y="6595426"/>
          <a:ext cx="5992238" cy="60213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785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13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kern="1200" dirty="0">
                          <a:solidFill>
                            <a:schemeClr val="tx1"/>
                          </a:solidFill>
                          <a:effectLst/>
                        </a:rPr>
                        <a:t>洼田饮水试验</a:t>
                      </a:r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498150" y="1750174"/>
          <a:ext cx="5992239" cy="3941574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80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54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握力（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kg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左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右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小腿周径（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五次起坐试验（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米起立行走测验（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分钟正常步速试验（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平衡测试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504831" y="383082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94269" y="252417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504831" y="3167410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513995" y="445885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504830" y="5107832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997166" y="1826581"/>
            <a:ext cx="95546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5574771" y="1823433"/>
            <a:ext cx="87963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424174" y="1220986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防跌倒测试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24174" y="5984644"/>
            <a:ext cx="176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预防噎食测试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424174" y="7448069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认知障碍筛查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794280" y="6674173"/>
            <a:ext cx="758624" cy="44463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444751" y="8628059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444751" y="8033730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997166" y="6699717"/>
            <a:ext cx="2493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20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正常：1级，5秒之内；可疑：1级，5秒以上或2级；异常：3～5级</a:t>
            </a:r>
          </a:p>
          <a:p>
            <a:pPr algn="l"/>
            <a:endParaRPr lang="zh-CN" altLang="en-US" sz="12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3213972" y="8270376"/>
            <a:ext cx="3429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27-30: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21-26: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轻度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10-20: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0-9: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重度</a:t>
            </a:r>
            <a:endParaRPr lang="zh-CN" altLang="en-US" sz="11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429000" y="8796329"/>
            <a:ext cx="30613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认知正常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0-1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分；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可能存在认知障碍≥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2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分</a:t>
            </a:r>
          </a:p>
        </p:txBody>
      </p:sp>
      <p:sp>
        <p:nvSpPr>
          <p:cNvPr id="15" name="矩形 1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/>
          <p:cNvSpPr txBox="1"/>
          <p:nvPr userDrawn="1"/>
        </p:nvSpPr>
        <p:spPr>
          <a:xfrm>
            <a:off x="199860" y="178866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测试与筛查结果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2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33" name="图形 32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27"/>
          <p:cNvGraphicFramePr>
            <a:graphicFrameLocks noGrp="1"/>
          </p:cNvGraphicFramePr>
          <p:nvPr userDrawn="1"/>
        </p:nvGraphicFramePr>
        <p:xfrm>
          <a:off x="466928" y="5145130"/>
          <a:ext cx="5992238" cy="3796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6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80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66928" y="1274124"/>
          <a:ext cx="5992238" cy="224743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096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7437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洼田饮水试验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683239" y="1691660"/>
            <a:ext cx="3707833" cy="14123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466928" y="4513564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认知障碍筛查</a:t>
            </a:r>
            <a:endParaRPr lang="zh-CN" altLang="en-US" sz="24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683239" y="7218606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683239" y="5341734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5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表格 27"/>
          <p:cNvGraphicFramePr>
            <a:graphicFrameLocks noGrp="1"/>
          </p:cNvGraphicFramePr>
          <p:nvPr userDrawn="1"/>
        </p:nvGraphicFramePr>
        <p:xfrm>
          <a:off x="432881" y="1203484"/>
          <a:ext cx="5992238" cy="644770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99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38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381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461426" y="4871716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461426" y="1709533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跌倒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预防跌倒测试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噎食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知障碍筛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医体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6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7025" y="1209754"/>
            <a:ext cx="5543949" cy="7923735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中医辨证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44121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336496" y="961108"/>
            <a:ext cx="3581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体检重要阳性结果及异常情况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检查结果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0485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异常结果对比</a:t>
            </a:r>
          </a:p>
        </p:txBody>
      </p:sp>
      <p:pic>
        <p:nvPicPr>
          <p:cNvPr id="9" name="图形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6858001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34891" y="8169920"/>
            <a:ext cx="1988213" cy="589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359" y="3721274"/>
            <a:ext cx="1441276" cy="1441276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2721111" y="5162550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kumimoji="1" lang="en-US" altLang="zh-CN" sz="2400" b="0" i="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594F4-266A-2B7E-4D63-AEF683767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501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}}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108</TotalTime>
  <Words>9</Words>
  <Application>Microsoft Office PowerPoint</Application>
  <PresentationFormat>A4 纸张(210x297 毫米)</PresentationFormat>
  <Paragraphs>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DengXian</vt:lpstr>
      <vt:lpstr>DengXian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181</cp:revision>
  <cp:lastPrinted>2023-07-10T04:29:00Z</cp:lastPrinted>
  <dcterms:created xsi:type="dcterms:W3CDTF">2023-04-03T03:54:00Z</dcterms:created>
  <dcterms:modified xsi:type="dcterms:W3CDTF">2025-11-27T09:54:49Z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