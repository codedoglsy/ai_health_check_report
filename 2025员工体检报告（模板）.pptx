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52" r:id="rId2"/>
    <p:sldMasterId id="2147483664" r:id="rId3"/>
  </p:sldMasterIdLst>
  <p:notesMasterIdLst>
    <p:notesMasterId r:id="rId8"/>
  </p:notesMasterIdLst>
  <p:sldIdLst>
    <p:sldId id="311" r:id="rId4"/>
    <p:sldId id="352" r:id="rId5"/>
    <p:sldId id="290" r:id="rId6"/>
    <p:sldId id="282" r:id="rId7"/>
  </p:sldIdLst>
  <p:sldSz cx="6858000" cy="9906000" type="A4"/>
  <p:notesSz cx="6797675" cy="9928225"/>
  <p:custDataLst>
    <p:tags r:id="rId9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2159" userDrawn="1">
          <p15:clr>
            <a:srgbClr val="A4A3A4"/>
          </p15:clr>
        </p15:guide>
        <p15:guide id="2" orient="horz" pos="309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F7C"/>
    <a:srgbClr val="FFC101"/>
    <a:srgbClr val="A1CCE7"/>
    <a:srgbClr val="F18735"/>
    <a:srgbClr val="EAA930"/>
    <a:srgbClr val="F19DC1"/>
    <a:srgbClr val="0069B7"/>
    <a:srgbClr val="002F7B"/>
    <a:srgbClr val="FAEDF0"/>
    <a:srgbClr val="6DB0C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中度样式 1 - 强调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38" autoAdjust="0"/>
    <p:restoredTop sz="94674"/>
  </p:normalViewPr>
  <p:slideViewPr>
    <p:cSldViewPr snapToGrid="0" showGuides="1">
      <p:cViewPr varScale="1">
        <p:scale>
          <a:sx n="75" d="100"/>
          <a:sy n="75" d="100"/>
        </p:scale>
        <p:origin x="3384" y="84"/>
      </p:cViewPr>
      <p:guideLst>
        <p:guide pos="2159"/>
        <p:guide orient="horz" pos="309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viewProps" Target="viewProps.xml"/><Relationship Id="rId5" Type="http://schemas.openxmlformats.org/officeDocument/2006/relationships/slide" Target="slides/slide2.xml"/><Relationship Id="rId10" Type="http://schemas.openxmlformats.org/officeDocument/2006/relationships/presProps" Target="presProps.xml"/><Relationship Id="rId4" Type="http://schemas.openxmlformats.org/officeDocument/2006/relationships/slide" Target="slides/slide1.xml"/><Relationship Id="rId9" Type="http://schemas.openxmlformats.org/officeDocument/2006/relationships/tags" Target="tags/tag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C4F749-1A8B-2A4A-9EFC-B5FDB292ED71}" type="datetimeFigureOut">
              <a:rPr kumimoji="1" lang="zh-CN" altLang="en-US" smtClean="0"/>
              <a:t>2025/11/28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239963" y="1241425"/>
            <a:ext cx="231775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35B12D-0BB8-3942-9D43-62B1E9F6F28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8.sv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8.sv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8.sv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8.sv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8.sv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8.sv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8.svg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8.svg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封面"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形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3630"/>
          <a:stretch>
            <a:fillRect/>
          </a:stretch>
        </p:blipFill>
        <p:spPr>
          <a:xfrm>
            <a:off x="0" y="3599245"/>
            <a:ext cx="5079208" cy="6650833"/>
          </a:xfrm>
          <a:prstGeom prst="rect">
            <a:avLst/>
          </a:prstGeom>
        </p:spPr>
      </p:pic>
      <p:sp>
        <p:nvSpPr>
          <p:cNvPr id="2" name="文本框 1"/>
          <p:cNvSpPr txBox="1"/>
          <p:nvPr userDrawn="1"/>
        </p:nvSpPr>
        <p:spPr>
          <a:xfrm>
            <a:off x="3300414" y="6870591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姓名：</a:t>
            </a:r>
          </a:p>
        </p:txBody>
      </p:sp>
      <p:sp>
        <p:nvSpPr>
          <p:cNvPr id="14" name="文本框 13"/>
          <p:cNvSpPr txBox="1"/>
          <p:nvPr userDrawn="1"/>
        </p:nvSpPr>
        <p:spPr>
          <a:xfrm>
            <a:off x="3300414" y="7488253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性别：</a:t>
            </a:r>
          </a:p>
        </p:txBody>
      </p:sp>
      <p:sp>
        <p:nvSpPr>
          <p:cNvPr id="16" name="文本框 15"/>
          <p:cNvSpPr txBox="1"/>
          <p:nvPr userDrawn="1"/>
        </p:nvSpPr>
        <p:spPr>
          <a:xfrm>
            <a:off x="3300414" y="8103496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年龄：</a:t>
            </a:r>
          </a:p>
        </p:txBody>
      </p:sp>
      <p:cxnSp>
        <p:nvCxnSpPr>
          <p:cNvPr id="17" name="直接连接符 16"/>
          <p:cNvCxnSpPr/>
          <p:nvPr userDrawn="1"/>
        </p:nvCxnSpPr>
        <p:spPr>
          <a:xfrm>
            <a:off x="4202722" y="7239923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 userDrawn="1"/>
        </p:nvCxnSpPr>
        <p:spPr>
          <a:xfrm>
            <a:off x="4202722" y="7857585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/>
          <p:cNvCxnSpPr/>
          <p:nvPr userDrawn="1"/>
        </p:nvCxnSpPr>
        <p:spPr>
          <a:xfrm>
            <a:off x="4202722" y="8472828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文本占位符 23"/>
          <p:cNvSpPr>
            <a:spLocks noGrp="1"/>
          </p:cNvSpPr>
          <p:nvPr>
            <p:ph type="body" sz="quarter" idx="13" hasCustomPrompt="1"/>
          </p:nvPr>
        </p:nvSpPr>
        <p:spPr>
          <a:xfrm>
            <a:off x="4202722" y="6778909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1" name="文本占位符 23"/>
          <p:cNvSpPr>
            <a:spLocks noGrp="1"/>
          </p:cNvSpPr>
          <p:nvPr>
            <p:ph type="body" sz="quarter" idx="14" hasCustomPrompt="1"/>
          </p:nvPr>
        </p:nvSpPr>
        <p:spPr>
          <a:xfrm>
            <a:off x="4202722" y="7416584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2" name="文本占位符 23"/>
          <p:cNvSpPr>
            <a:spLocks noGrp="1"/>
          </p:cNvSpPr>
          <p:nvPr>
            <p:ph type="body" sz="quarter" idx="15" hasCustomPrompt="1"/>
          </p:nvPr>
        </p:nvSpPr>
        <p:spPr>
          <a:xfrm>
            <a:off x="4202722" y="8045682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7" name="同侧圆角矩形 6"/>
          <p:cNvSpPr/>
          <p:nvPr userDrawn="1"/>
        </p:nvSpPr>
        <p:spPr>
          <a:xfrm rot="16200000">
            <a:off x="4432534" y="1432154"/>
            <a:ext cx="1293348" cy="3557587"/>
          </a:xfrm>
          <a:prstGeom prst="round2Same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800" b="0" i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662863" y="621636"/>
            <a:ext cx="872654" cy="1116394"/>
          </a:xfrm>
          <a:prstGeom prst="rect">
            <a:avLst/>
          </a:prstGeom>
        </p:spPr>
      </p:pic>
      <p:sp>
        <p:nvSpPr>
          <p:cNvPr id="10" name="文本框 9"/>
          <p:cNvSpPr txBox="1"/>
          <p:nvPr userDrawn="1"/>
        </p:nvSpPr>
        <p:spPr>
          <a:xfrm>
            <a:off x="3447992" y="2703115"/>
            <a:ext cx="326243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6000" b="0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体检报告</a:t>
            </a:r>
          </a:p>
        </p:txBody>
      </p:sp>
      <p:pic>
        <p:nvPicPr>
          <p:cNvPr id="11" name="图形 22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7992" y="4009439"/>
            <a:ext cx="3087525" cy="385941"/>
          </a:xfrm>
          <a:prstGeom prst="rect">
            <a:avLst/>
          </a:prstGeom>
        </p:spPr>
      </p:pic>
      <p:sp>
        <p:nvSpPr>
          <p:cNvPr id="13" name="文本框 12"/>
          <p:cNvSpPr txBox="1"/>
          <p:nvPr userDrawn="1"/>
        </p:nvSpPr>
        <p:spPr>
          <a:xfrm>
            <a:off x="3308023" y="8732594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日期：</a:t>
            </a:r>
          </a:p>
        </p:txBody>
      </p:sp>
      <p:cxnSp>
        <p:nvCxnSpPr>
          <p:cNvPr id="15" name="直接连接符 18"/>
          <p:cNvCxnSpPr/>
          <p:nvPr userDrawn="1"/>
        </p:nvCxnSpPr>
        <p:spPr>
          <a:xfrm>
            <a:off x="4210331" y="9101926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文本占位符 23"/>
          <p:cNvSpPr>
            <a:spLocks noGrp="1"/>
          </p:cNvSpPr>
          <p:nvPr>
            <p:ph type="body" sz="quarter" idx="16" hasCustomPrompt="1"/>
          </p:nvPr>
        </p:nvSpPr>
        <p:spPr>
          <a:xfrm>
            <a:off x="4210331" y="8674780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封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/>
          <p:cNvSpPr/>
          <p:nvPr userDrawn="1"/>
        </p:nvSpPr>
        <p:spPr>
          <a:xfrm>
            <a:off x="0" y="0"/>
            <a:ext cx="6858000" cy="9906000"/>
          </a:xfrm>
          <a:prstGeom prst="rect">
            <a:avLst/>
          </a:prstGeom>
          <a:solidFill>
            <a:srgbClr val="FFC10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5400" b="0" i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圆角矩形 2"/>
          <p:cNvSpPr/>
          <p:nvPr userDrawn="1"/>
        </p:nvSpPr>
        <p:spPr>
          <a:xfrm>
            <a:off x="1162756" y="5850466"/>
            <a:ext cx="4526844" cy="2619022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" name="文本框 1"/>
          <p:cNvSpPr txBox="1"/>
          <p:nvPr userDrawn="1"/>
        </p:nvSpPr>
        <p:spPr>
          <a:xfrm>
            <a:off x="1733536" y="6379228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姓名：</a:t>
            </a:r>
          </a:p>
        </p:txBody>
      </p:sp>
      <p:sp>
        <p:nvSpPr>
          <p:cNvPr id="14" name="文本框 13"/>
          <p:cNvSpPr txBox="1"/>
          <p:nvPr userDrawn="1"/>
        </p:nvSpPr>
        <p:spPr>
          <a:xfrm>
            <a:off x="1733536" y="6996890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性别：</a:t>
            </a:r>
          </a:p>
        </p:txBody>
      </p:sp>
      <p:sp>
        <p:nvSpPr>
          <p:cNvPr id="16" name="文本框 15"/>
          <p:cNvSpPr txBox="1"/>
          <p:nvPr userDrawn="1"/>
        </p:nvSpPr>
        <p:spPr>
          <a:xfrm>
            <a:off x="1733536" y="7612133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年龄：</a:t>
            </a:r>
          </a:p>
        </p:txBody>
      </p:sp>
      <p:cxnSp>
        <p:nvCxnSpPr>
          <p:cNvPr id="17" name="直接连接符 16"/>
          <p:cNvCxnSpPr/>
          <p:nvPr userDrawn="1"/>
        </p:nvCxnSpPr>
        <p:spPr>
          <a:xfrm>
            <a:off x="2635844" y="6748560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 userDrawn="1"/>
        </p:nvCxnSpPr>
        <p:spPr>
          <a:xfrm>
            <a:off x="2635844" y="7366222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/>
          <p:cNvCxnSpPr/>
          <p:nvPr userDrawn="1"/>
        </p:nvCxnSpPr>
        <p:spPr>
          <a:xfrm>
            <a:off x="2635844" y="7981465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文本占位符 23"/>
          <p:cNvSpPr>
            <a:spLocks noGrp="1"/>
          </p:cNvSpPr>
          <p:nvPr>
            <p:ph type="body" sz="quarter" idx="13" hasCustomPrompt="1"/>
          </p:nvPr>
        </p:nvSpPr>
        <p:spPr>
          <a:xfrm>
            <a:off x="2635844" y="6319934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0" i="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1" name="文本占位符 23"/>
          <p:cNvSpPr>
            <a:spLocks noGrp="1"/>
          </p:cNvSpPr>
          <p:nvPr>
            <p:ph type="body" sz="quarter" idx="14" hasCustomPrompt="1"/>
          </p:nvPr>
        </p:nvSpPr>
        <p:spPr>
          <a:xfrm>
            <a:off x="2635844" y="6925221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0" i="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2" name="文本占位符 23"/>
          <p:cNvSpPr>
            <a:spLocks noGrp="1"/>
          </p:cNvSpPr>
          <p:nvPr>
            <p:ph type="body" sz="quarter" idx="15" hasCustomPrompt="1"/>
          </p:nvPr>
        </p:nvSpPr>
        <p:spPr>
          <a:xfrm>
            <a:off x="2635844" y="7554319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0" i="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7100" y="771883"/>
            <a:ext cx="1885950" cy="540173"/>
          </a:xfrm>
          <a:prstGeom prst="rect">
            <a:avLst/>
          </a:prstGeom>
        </p:spPr>
      </p:pic>
      <p:pic>
        <p:nvPicPr>
          <p:cNvPr id="23" name="图形 2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0075" y="3711153"/>
            <a:ext cx="3087525" cy="385941"/>
          </a:xfrm>
          <a:prstGeom prst="rect">
            <a:avLst/>
          </a:prstGeom>
        </p:spPr>
      </p:pic>
      <p:sp>
        <p:nvSpPr>
          <p:cNvPr id="5" name="文本框 4"/>
          <p:cNvSpPr txBox="1"/>
          <p:nvPr userDrawn="1"/>
        </p:nvSpPr>
        <p:spPr>
          <a:xfrm>
            <a:off x="1641073" y="2338776"/>
            <a:ext cx="3570208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zh-CN" altLang="en-US" sz="6600" b="0" i="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体检报告</a:t>
            </a:r>
          </a:p>
        </p:txBody>
      </p:sp>
      <p:cxnSp>
        <p:nvCxnSpPr>
          <p:cNvPr id="8" name="直线连接符 7"/>
          <p:cNvCxnSpPr/>
          <p:nvPr userDrawn="1"/>
        </p:nvCxnSpPr>
        <p:spPr>
          <a:xfrm>
            <a:off x="1733536" y="3505481"/>
            <a:ext cx="3332240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857250" y="1620838"/>
            <a:ext cx="5143500" cy="3449637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857250" y="5202238"/>
            <a:ext cx="5143500" cy="23923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2025/11/28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1488" y="527050"/>
            <a:ext cx="5915025" cy="1914525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1488" y="2636838"/>
            <a:ext cx="5915025" cy="6284912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2025/11/28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8313" y="2470150"/>
            <a:ext cx="5915025" cy="4119563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68313" y="6629400"/>
            <a:ext cx="5915025" cy="216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2025/11/28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项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1488" y="527050"/>
            <a:ext cx="5915025" cy="1914525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71488" y="2636838"/>
            <a:ext cx="2881312" cy="6284912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3505200" y="2636838"/>
            <a:ext cx="2881313" cy="6284912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2025/11/28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3075" y="527050"/>
            <a:ext cx="5915025" cy="1914525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73075" y="2428875"/>
            <a:ext cx="2900363" cy="118903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73075" y="3617913"/>
            <a:ext cx="2900363" cy="5322887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3471863" y="2428875"/>
            <a:ext cx="2916237" cy="118903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3471863" y="3617913"/>
            <a:ext cx="2916237" cy="5322887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2025/11/28</a:t>
            </a:fld>
            <a:endParaRPr kumimoji="1"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9" name="幻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1488" y="527050"/>
            <a:ext cx="5915025" cy="1914525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2025/11/28</a:t>
            </a:fld>
            <a:endParaRPr kumimoji="1"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5" name="幻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2025/11/28</a:t>
            </a:fld>
            <a:endParaRPr kumimoji="1"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3075" y="660400"/>
            <a:ext cx="2211388" cy="23114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2916238" y="1425575"/>
            <a:ext cx="3471862" cy="704056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73075" y="2971800"/>
            <a:ext cx="2211388" cy="55054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2025/11/28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3075" y="660400"/>
            <a:ext cx="2211388" cy="23114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916238" y="1425575"/>
            <a:ext cx="3471862" cy="70405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73075" y="2971800"/>
            <a:ext cx="2211388" cy="55054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2025/11/28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1488" y="527050"/>
            <a:ext cx="5915025" cy="1914525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本占位符 2"/>
          <p:cNvSpPr>
            <a:spLocks noGrp="1"/>
          </p:cNvSpPr>
          <p:nvPr>
            <p:ph type="body" orient="vert" idx="1"/>
          </p:nvPr>
        </p:nvSpPr>
        <p:spPr>
          <a:xfrm>
            <a:off x="471488" y="2636838"/>
            <a:ext cx="5915025" cy="6284912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2025/11/28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和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4908550" y="527050"/>
            <a:ext cx="1477963" cy="8394700"/>
          </a:xfrm>
          <a:prstGeom prst="rect">
            <a:avLst/>
          </a:prstGeo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本占位符 2"/>
          <p:cNvSpPr>
            <a:spLocks noGrp="1"/>
          </p:cNvSpPr>
          <p:nvPr>
            <p:ph type="body" orient="vert" idx="1"/>
          </p:nvPr>
        </p:nvSpPr>
        <p:spPr>
          <a:xfrm>
            <a:off x="471488" y="527050"/>
            <a:ext cx="4284662" cy="8394700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2025/11/28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一般检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文本框 7"/>
          <p:cNvSpPr txBox="1"/>
          <p:nvPr userDrawn="1"/>
        </p:nvSpPr>
        <p:spPr>
          <a:xfrm>
            <a:off x="204201" y="178907"/>
            <a:ext cx="14414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一般检查</a:t>
            </a:r>
          </a:p>
        </p:txBody>
      </p:sp>
      <p:graphicFrame>
        <p:nvGraphicFramePr>
          <p:cNvPr id="27" name="表格 27"/>
          <p:cNvGraphicFramePr>
            <a:graphicFrameLocks noGrp="1"/>
          </p:cNvGraphicFramePr>
          <p:nvPr userDrawn="1"/>
        </p:nvGraphicFramePr>
        <p:xfrm>
          <a:off x="711707" y="1269077"/>
          <a:ext cx="5577848" cy="7575280"/>
        </p:xfrm>
        <a:graphic>
          <a:graphicData uri="http://schemas.openxmlformats.org/drawingml/2006/table">
            <a:tbl>
              <a:tblPr bandRow="1">
                <a:tableStyleId>{FABFCF23-3B69-468F-B69F-88F6DE6A72F2}</a:tableStyleId>
              </a:tblPr>
              <a:tblGrid>
                <a:gridCol w="23495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283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5755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身高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(cm)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体重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(kg)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体重指数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基础代谢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(kcal)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肌肉率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(%)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体脂肪率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(%)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内脏脂肪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体年龄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(</a:t>
                      </a:r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岁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)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收缩压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(mmHg)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舒张压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(mmHg)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8" name="文本占位符 23"/>
          <p:cNvSpPr>
            <a:spLocks noGrp="1"/>
          </p:cNvSpPr>
          <p:nvPr>
            <p:ph type="body" sz="quarter" idx="16" hasCustomPrompt="1"/>
          </p:nvPr>
        </p:nvSpPr>
        <p:spPr>
          <a:xfrm>
            <a:off x="3302000" y="1433921"/>
            <a:ext cx="2895600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9" name="文本占位符 23"/>
          <p:cNvSpPr>
            <a:spLocks noGrp="1"/>
          </p:cNvSpPr>
          <p:nvPr>
            <p:ph type="body" sz="quarter" idx="17" hasCustomPrompt="1"/>
          </p:nvPr>
        </p:nvSpPr>
        <p:spPr>
          <a:xfrm>
            <a:off x="3302000" y="2184049"/>
            <a:ext cx="2895600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30" name="文本占位符 23"/>
          <p:cNvSpPr>
            <a:spLocks noGrp="1"/>
          </p:cNvSpPr>
          <p:nvPr>
            <p:ph type="body" sz="quarter" idx="18" hasCustomPrompt="1"/>
          </p:nvPr>
        </p:nvSpPr>
        <p:spPr>
          <a:xfrm>
            <a:off x="3302000" y="2934177"/>
            <a:ext cx="2895600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31" name="文本占位符 23"/>
          <p:cNvSpPr>
            <a:spLocks noGrp="1"/>
          </p:cNvSpPr>
          <p:nvPr>
            <p:ph type="body" sz="quarter" idx="19" hasCustomPrompt="1"/>
          </p:nvPr>
        </p:nvSpPr>
        <p:spPr>
          <a:xfrm>
            <a:off x="3302000" y="3684305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6" name="文本占位符 23"/>
          <p:cNvSpPr>
            <a:spLocks noGrp="1"/>
          </p:cNvSpPr>
          <p:nvPr>
            <p:ph type="body" sz="quarter" idx="20" hasCustomPrompt="1"/>
          </p:nvPr>
        </p:nvSpPr>
        <p:spPr>
          <a:xfrm>
            <a:off x="3302000" y="4434433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2" name="文本占位符 23"/>
          <p:cNvSpPr>
            <a:spLocks noGrp="1"/>
          </p:cNvSpPr>
          <p:nvPr>
            <p:ph type="body" sz="quarter" idx="21" hasCustomPrompt="1"/>
          </p:nvPr>
        </p:nvSpPr>
        <p:spPr>
          <a:xfrm>
            <a:off x="3302000" y="5184561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3" name="文本占位符 23"/>
          <p:cNvSpPr>
            <a:spLocks noGrp="1"/>
          </p:cNvSpPr>
          <p:nvPr>
            <p:ph type="body" sz="quarter" idx="22" hasCustomPrompt="1"/>
          </p:nvPr>
        </p:nvSpPr>
        <p:spPr>
          <a:xfrm>
            <a:off x="3302000" y="5934689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4" name="文本占位符 23"/>
          <p:cNvSpPr>
            <a:spLocks noGrp="1"/>
          </p:cNvSpPr>
          <p:nvPr>
            <p:ph type="body" sz="quarter" idx="23" hasCustomPrompt="1"/>
          </p:nvPr>
        </p:nvSpPr>
        <p:spPr>
          <a:xfrm>
            <a:off x="3302000" y="6684817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5" name="文本占位符 23"/>
          <p:cNvSpPr>
            <a:spLocks noGrp="1"/>
          </p:cNvSpPr>
          <p:nvPr>
            <p:ph type="body" sz="quarter" idx="24" hasCustomPrompt="1"/>
          </p:nvPr>
        </p:nvSpPr>
        <p:spPr>
          <a:xfrm>
            <a:off x="3301998" y="7434945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9" name="文本占位符 23"/>
          <p:cNvSpPr>
            <a:spLocks noGrp="1"/>
          </p:cNvSpPr>
          <p:nvPr>
            <p:ph type="body" sz="quarter" idx="25" hasCustomPrompt="1"/>
          </p:nvPr>
        </p:nvSpPr>
        <p:spPr>
          <a:xfrm>
            <a:off x="3301999" y="8185075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1" name="矩形 10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16" name="图形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pic>
        <p:nvPicPr>
          <p:cNvPr id="18" name="图形 17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科检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" name="表格 27"/>
          <p:cNvGraphicFramePr>
            <a:graphicFrameLocks noGrp="1"/>
          </p:cNvGraphicFramePr>
          <p:nvPr userDrawn="1"/>
        </p:nvGraphicFramePr>
        <p:xfrm>
          <a:off x="640076" y="1203484"/>
          <a:ext cx="5577848" cy="7963308"/>
        </p:xfrm>
        <a:graphic>
          <a:graphicData uri="http://schemas.openxmlformats.org/drawingml/2006/table">
            <a:tbl>
              <a:tblPr bandRow="1">
                <a:tableStyleId>{FABFCF23-3B69-468F-B69F-88F6DE6A72F2}</a:tableStyleId>
              </a:tblPr>
              <a:tblGrid>
                <a:gridCol w="21010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67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9129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病史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心率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心律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心音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肺部听诊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肝脏触诊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脾脏触诊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肾脏叩诊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神经反射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其他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8" name="文本占位符 23"/>
          <p:cNvSpPr>
            <a:spLocks noGrp="1"/>
          </p:cNvSpPr>
          <p:nvPr>
            <p:ph type="body" sz="quarter" idx="16" hasCustomPrompt="1"/>
          </p:nvPr>
        </p:nvSpPr>
        <p:spPr>
          <a:xfrm>
            <a:off x="2561037" y="1266096"/>
            <a:ext cx="3564932" cy="2190912"/>
          </a:xfrm>
          <a:prstGeom prst="rect">
            <a:avLst/>
          </a:prstGeom>
        </p:spPr>
        <p:txBody>
          <a:bodyPr anchor="t"/>
          <a:lstStyle>
            <a:lvl1pPr marL="0" indent="0" algn="just">
              <a:lnSpc>
                <a:spcPct val="150000"/>
              </a:lnSpc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9" name="文本占位符 23"/>
          <p:cNvSpPr>
            <a:spLocks noGrp="1"/>
          </p:cNvSpPr>
          <p:nvPr>
            <p:ph type="body" sz="quarter" idx="17" hasCustomPrompt="1"/>
          </p:nvPr>
        </p:nvSpPr>
        <p:spPr>
          <a:xfrm>
            <a:off x="2561037" y="3654084"/>
            <a:ext cx="3564932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30" name="文本占位符 23"/>
          <p:cNvSpPr>
            <a:spLocks noGrp="1"/>
          </p:cNvSpPr>
          <p:nvPr>
            <p:ph type="body" sz="quarter" idx="18" hasCustomPrompt="1"/>
          </p:nvPr>
        </p:nvSpPr>
        <p:spPr>
          <a:xfrm>
            <a:off x="2561037" y="4289464"/>
            <a:ext cx="3564932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31" name="文本占位符 23"/>
          <p:cNvSpPr>
            <a:spLocks noGrp="1"/>
          </p:cNvSpPr>
          <p:nvPr>
            <p:ph type="body" sz="quarter" idx="19" hasCustomPrompt="1"/>
          </p:nvPr>
        </p:nvSpPr>
        <p:spPr>
          <a:xfrm>
            <a:off x="2561037" y="4896372"/>
            <a:ext cx="3564931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6" name="文本占位符 23"/>
          <p:cNvSpPr>
            <a:spLocks noGrp="1"/>
          </p:cNvSpPr>
          <p:nvPr>
            <p:ph type="body" sz="quarter" idx="20" hasCustomPrompt="1"/>
          </p:nvPr>
        </p:nvSpPr>
        <p:spPr>
          <a:xfrm>
            <a:off x="2561037" y="5527744"/>
            <a:ext cx="3564931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2" name="文本占位符 23"/>
          <p:cNvSpPr>
            <a:spLocks noGrp="1"/>
          </p:cNvSpPr>
          <p:nvPr>
            <p:ph type="body" sz="quarter" idx="21" hasCustomPrompt="1"/>
          </p:nvPr>
        </p:nvSpPr>
        <p:spPr>
          <a:xfrm>
            <a:off x="2561037" y="6143466"/>
            <a:ext cx="3564931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3" name="文本占位符 23"/>
          <p:cNvSpPr>
            <a:spLocks noGrp="1"/>
          </p:cNvSpPr>
          <p:nvPr>
            <p:ph type="body" sz="quarter" idx="22" hasCustomPrompt="1"/>
          </p:nvPr>
        </p:nvSpPr>
        <p:spPr>
          <a:xfrm>
            <a:off x="2561037" y="6740087"/>
            <a:ext cx="3564931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4" name="文本占位符 23"/>
          <p:cNvSpPr>
            <a:spLocks noGrp="1"/>
          </p:cNvSpPr>
          <p:nvPr>
            <p:ph type="body" sz="quarter" idx="23" hasCustomPrompt="1"/>
          </p:nvPr>
        </p:nvSpPr>
        <p:spPr>
          <a:xfrm>
            <a:off x="2561037" y="7361623"/>
            <a:ext cx="3564931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4" name="文本占位符 23"/>
          <p:cNvSpPr>
            <a:spLocks noGrp="1"/>
          </p:cNvSpPr>
          <p:nvPr>
            <p:ph type="body" sz="quarter" idx="24" hasCustomPrompt="1"/>
          </p:nvPr>
        </p:nvSpPr>
        <p:spPr>
          <a:xfrm>
            <a:off x="2561035" y="7998938"/>
            <a:ext cx="3564931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" name="文本占位符 23"/>
          <p:cNvSpPr>
            <a:spLocks noGrp="1"/>
          </p:cNvSpPr>
          <p:nvPr>
            <p:ph type="body" sz="quarter" idx="25" hasCustomPrompt="1"/>
          </p:nvPr>
        </p:nvSpPr>
        <p:spPr>
          <a:xfrm>
            <a:off x="2561035" y="8582865"/>
            <a:ext cx="3564931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3" name="矩形 2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文本框 4"/>
          <p:cNvSpPr txBox="1"/>
          <p:nvPr userDrawn="1"/>
        </p:nvSpPr>
        <p:spPr>
          <a:xfrm>
            <a:off x="199860" y="178907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内科检查</a:t>
            </a:r>
          </a:p>
        </p:txBody>
      </p:sp>
      <p:sp>
        <p:nvSpPr>
          <p:cNvPr id="8" name="矩形 7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9" name="图形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pic>
        <p:nvPicPr>
          <p:cNvPr id="18" name="图形 17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项测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表格 27"/>
          <p:cNvGraphicFramePr>
            <a:graphicFrameLocks noGrp="1"/>
          </p:cNvGraphicFramePr>
          <p:nvPr userDrawn="1"/>
        </p:nvGraphicFramePr>
        <p:xfrm>
          <a:off x="498150" y="7998622"/>
          <a:ext cx="5992238" cy="1151662"/>
        </p:xfrm>
        <a:graphic>
          <a:graphicData uri="http://schemas.openxmlformats.org/drawingml/2006/table">
            <a:tbl>
              <a:tblPr bandRow="1">
                <a:tableStyleId>{FABFCF23-3B69-468F-B69F-88F6DE6A72F2}</a:tableStyleId>
              </a:tblPr>
              <a:tblGrid>
                <a:gridCol w="18444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477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583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MMSE </a:t>
                      </a:r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量表（分）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583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AD8 </a:t>
                      </a:r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量表（分）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表格 27"/>
          <p:cNvGraphicFramePr>
            <a:graphicFrameLocks noGrp="1"/>
          </p:cNvGraphicFramePr>
          <p:nvPr userDrawn="1"/>
        </p:nvGraphicFramePr>
        <p:xfrm>
          <a:off x="498150" y="6595426"/>
          <a:ext cx="5992238" cy="602130"/>
        </p:xfrm>
        <a:graphic>
          <a:graphicData uri="http://schemas.openxmlformats.org/drawingml/2006/table">
            <a:tbl>
              <a:tblPr bandRow="1">
                <a:tableStyleId>{FABFCF23-3B69-468F-B69F-88F6DE6A72F2}</a:tableStyleId>
              </a:tblPr>
              <a:tblGrid>
                <a:gridCol w="17852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70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2130">
                <a:tc>
                  <a:txBody>
                    <a:bodyPr/>
                    <a:lstStyle/>
                    <a:p>
                      <a:pPr algn="ctr"/>
                      <a:r>
                        <a:rPr lang="zh-CN" altLang="zh-CN" sz="1600" kern="1200" dirty="0">
                          <a:solidFill>
                            <a:schemeClr val="tx1"/>
                          </a:solidFill>
                          <a:effectLst/>
                        </a:rPr>
                        <a:t>洼田饮水试验</a:t>
                      </a:r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7" name="表格 27"/>
          <p:cNvGraphicFramePr>
            <a:graphicFrameLocks noGrp="1"/>
          </p:cNvGraphicFramePr>
          <p:nvPr userDrawn="1"/>
        </p:nvGraphicFramePr>
        <p:xfrm>
          <a:off x="498150" y="1750174"/>
          <a:ext cx="5992239" cy="3941574"/>
        </p:xfrm>
        <a:graphic>
          <a:graphicData uri="http://schemas.openxmlformats.org/drawingml/2006/table">
            <a:tbl>
              <a:tblPr bandRow="1">
                <a:tableStyleId>{FABFCF23-3B69-468F-B69F-88F6DE6A72F2}</a:tableStyleId>
              </a:tblPr>
              <a:tblGrid>
                <a:gridCol w="2807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72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90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490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4903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05404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握力（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kg</a:t>
                      </a:r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）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左</a:t>
                      </a:r>
                      <a:endParaRPr lang="en-US" altLang="zh-CN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手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右</a:t>
                      </a:r>
                      <a:endParaRPr lang="en-US" altLang="zh-CN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手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7234">
                <a:tc>
                  <a:txBody>
                    <a:bodyPr/>
                    <a:lstStyle/>
                    <a:p>
                      <a:pPr algn="ctr"/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小腿周径（</a:t>
                      </a:r>
                      <a:r>
                        <a:rPr lang="en-US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cm</a:t>
                      </a:r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）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gridSpan="4"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7234">
                <a:tc>
                  <a:txBody>
                    <a:bodyPr/>
                    <a:lstStyle/>
                    <a:p>
                      <a:pPr algn="ctr"/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五次起坐试验（</a:t>
                      </a:r>
                      <a:r>
                        <a:rPr lang="en-US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s</a:t>
                      </a:r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）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gridSpan="4"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7234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3 </a:t>
                      </a:r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米起立行走测验（</a:t>
                      </a:r>
                      <a:r>
                        <a:rPr lang="en-US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s</a:t>
                      </a:r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）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gridSpan="4"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7234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6</a:t>
                      </a:r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分钟正常步速试验（</a:t>
                      </a:r>
                      <a:r>
                        <a:rPr lang="en-US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m</a:t>
                      </a:r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）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gridSpan="4"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7234">
                <a:tc>
                  <a:txBody>
                    <a:bodyPr/>
                    <a:lstStyle/>
                    <a:p>
                      <a:pPr algn="ctr"/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平衡测试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gridSpan="4"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9" name="文本占位符 23"/>
          <p:cNvSpPr>
            <a:spLocks noGrp="1"/>
          </p:cNvSpPr>
          <p:nvPr>
            <p:ph type="body" sz="quarter" idx="17" hasCustomPrompt="1"/>
          </p:nvPr>
        </p:nvSpPr>
        <p:spPr>
          <a:xfrm>
            <a:off x="3504831" y="3830829"/>
            <a:ext cx="2895600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30" name="文本占位符 23"/>
          <p:cNvSpPr>
            <a:spLocks noGrp="1"/>
          </p:cNvSpPr>
          <p:nvPr>
            <p:ph type="body" sz="quarter" idx="18" hasCustomPrompt="1"/>
          </p:nvPr>
        </p:nvSpPr>
        <p:spPr>
          <a:xfrm>
            <a:off x="3494269" y="2524171"/>
            <a:ext cx="2895600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31" name="文本占位符 23"/>
          <p:cNvSpPr>
            <a:spLocks noGrp="1"/>
          </p:cNvSpPr>
          <p:nvPr>
            <p:ph type="body" sz="quarter" idx="19" hasCustomPrompt="1"/>
          </p:nvPr>
        </p:nvSpPr>
        <p:spPr>
          <a:xfrm>
            <a:off x="3504831" y="3167410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6" name="文本占位符 23"/>
          <p:cNvSpPr>
            <a:spLocks noGrp="1"/>
          </p:cNvSpPr>
          <p:nvPr>
            <p:ph type="body" sz="quarter" idx="20" hasCustomPrompt="1"/>
          </p:nvPr>
        </p:nvSpPr>
        <p:spPr>
          <a:xfrm>
            <a:off x="3513995" y="4458855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2" name="文本占位符 23"/>
          <p:cNvSpPr>
            <a:spLocks noGrp="1"/>
          </p:cNvSpPr>
          <p:nvPr>
            <p:ph type="body" sz="quarter" idx="21" hasCustomPrompt="1"/>
          </p:nvPr>
        </p:nvSpPr>
        <p:spPr>
          <a:xfrm>
            <a:off x="3504830" y="5107832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6" name="文本占位符 23"/>
          <p:cNvSpPr>
            <a:spLocks noGrp="1"/>
          </p:cNvSpPr>
          <p:nvPr>
            <p:ph type="body" sz="quarter" idx="26" hasCustomPrompt="1"/>
          </p:nvPr>
        </p:nvSpPr>
        <p:spPr>
          <a:xfrm>
            <a:off x="3997166" y="1826581"/>
            <a:ext cx="955465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7" name="文本占位符 23"/>
          <p:cNvSpPr>
            <a:spLocks noGrp="1"/>
          </p:cNvSpPr>
          <p:nvPr>
            <p:ph type="body" sz="quarter" idx="27" hasCustomPrompt="1"/>
          </p:nvPr>
        </p:nvSpPr>
        <p:spPr>
          <a:xfrm>
            <a:off x="5574771" y="1823433"/>
            <a:ext cx="879635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" name="文本框 1"/>
          <p:cNvSpPr txBox="1"/>
          <p:nvPr userDrawn="1"/>
        </p:nvSpPr>
        <p:spPr>
          <a:xfrm>
            <a:off x="424174" y="1220986"/>
            <a:ext cx="14911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000" b="1" i="0" kern="1200" dirty="0">
                <a:solidFill>
                  <a:srgbClr val="002F7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rPr>
              <a:t>防跌倒测试</a:t>
            </a:r>
            <a:endParaRPr lang="zh-CN" altLang="en-US" sz="2000" b="1" i="0" dirty="0">
              <a:solidFill>
                <a:srgbClr val="002F7C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" name="文本框 2"/>
          <p:cNvSpPr txBox="1"/>
          <p:nvPr userDrawn="1"/>
        </p:nvSpPr>
        <p:spPr>
          <a:xfrm>
            <a:off x="424174" y="5984644"/>
            <a:ext cx="17669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000" b="0" i="0" kern="120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预防噎食测试</a:t>
            </a:r>
            <a:endParaRPr lang="zh-CN" altLang="en-US" sz="2000" b="0" i="0" dirty="0">
              <a:solidFill>
                <a:srgbClr val="002F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/>
          <p:cNvSpPr txBox="1"/>
          <p:nvPr userDrawn="1"/>
        </p:nvSpPr>
        <p:spPr>
          <a:xfrm>
            <a:off x="424174" y="7448069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000" b="0" i="0" kern="120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认知障碍筛查</a:t>
            </a:r>
            <a:endParaRPr lang="zh-CN" altLang="en-US" sz="2000" b="0" i="0" dirty="0">
              <a:solidFill>
                <a:srgbClr val="002F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占位符 23"/>
          <p:cNvSpPr>
            <a:spLocks noGrp="1"/>
          </p:cNvSpPr>
          <p:nvPr>
            <p:ph type="body" sz="quarter" idx="22" hasCustomPrompt="1"/>
          </p:nvPr>
        </p:nvSpPr>
        <p:spPr>
          <a:xfrm>
            <a:off x="2794280" y="6674173"/>
            <a:ext cx="758624" cy="44463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8" name="文本占位符 23"/>
          <p:cNvSpPr>
            <a:spLocks noGrp="1"/>
          </p:cNvSpPr>
          <p:nvPr>
            <p:ph type="body" sz="quarter" idx="23" hasCustomPrompt="1"/>
          </p:nvPr>
        </p:nvSpPr>
        <p:spPr>
          <a:xfrm>
            <a:off x="2444751" y="8628059"/>
            <a:ext cx="758624" cy="49056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9" name="文本占位符 23"/>
          <p:cNvSpPr>
            <a:spLocks noGrp="1"/>
          </p:cNvSpPr>
          <p:nvPr>
            <p:ph type="body" sz="quarter" idx="24" hasCustomPrompt="1"/>
          </p:nvPr>
        </p:nvSpPr>
        <p:spPr>
          <a:xfrm>
            <a:off x="2444751" y="8033730"/>
            <a:ext cx="758624" cy="49056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1" name="文本框 10"/>
          <p:cNvSpPr txBox="1"/>
          <p:nvPr userDrawn="1"/>
        </p:nvSpPr>
        <p:spPr>
          <a:xfrm>
            <a:off x="3997166" y="6699717"/>
            <a:ext cx="24932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120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正常：1级，5秒之内；可疑：1级，5秒以上或2级；异常：3～5级</a:t>
            </a:r>
          </a:p>
          <a:p>
            <a:pPr algn="l"/>
            <a:endParaRPr lang="zh-CN" altLang="en-US" sz="1200" b="0" i="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3" name="文本框 12"/>
          <p:cNvSpPr txBox="1"/>
          <p:nvPr userDrawn="1"/>
        </p:nvSpPr>
        <p:spPr>
          <a:xfrm>
            <a:off x="3213972" y="8270376"/>
            <a:ext cx="342900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27-30: </a:t>
            </a:r>
            <a:r>
              <a:rPr lang="zh-CN" altLang="en-US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正常   </a:t>
            </a:r>
            <a:r>
              <a:rPr lang="en-US" altLang="zh-CN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21-26: </a:t>
            </a:r>
            <a:r>
              <a:rPr lang="zh-CN" altLang="en-US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轻度    </a:t>
            </a:r>
            <a:r>
              <a:rPr lang="en-US" altLang="zh-CN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10-20: </a:t>
            </a:r>
            <a:r>
              <a:rPr lang="zh-CN" altLang="en-US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中度    </a:t>
            </a:r>
            <a:r>
              <a:rPr lang="en-US" altLang="zh-CN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0-9: </a:t>
            </a:r>
            <a:r>
              <a:rPr lang="zh-CN" altLang="en-US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重度</a:t>
            </a:r>
            <a:endParaRPr lang="zh-CN" altLang="en-US" sz="1100" b="0" i="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4" name="文本框 13"/>
          <p:cNvSpPr txBox="1"/>
          <p:nvPr userDrawn="1"/>
        </p:nvSpPr>
        <p:spPr>
          <a:xfrm>
            <a:off x="3429000" y="8796329"/>
            <a:ext cx="306138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认知正常</a:t>
            </a:r>
            <a:r>
              <a:rPr lang="en-US" altLang="zh-CN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0-1</a:t>
            </a:r>
            <a:r>
              <a:rPr lang="zh-CN" altLang="en-US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分；</a:t>
            </a:r>
            <a:r>
              <a:rPr lang="zh-CN" altLang="en-US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  <a:sym typeface="+mn-ea"/>
              </a:rPr>
              <a:t>可能存在认知障碍≥</a:t>
            </a:r>
            <a:r>
              <a:rPr lang="en-US" altLang="zh-CN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  <a:sym typeface="+mn-ea"/>
              </a:rPr>
              <a:t>2</a:t>
            </a:r>
            <a:r>
              <a:rPr lang="zh-CN" altLang="en-US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  <a:sym typeface="+mn-ea"/>
              </a:rPr>
              <a:t>分</a:t>
            </a:r>
          </a:p>
        </p:txBody>
      </p:sp>
      <p:sp>
        <p:nvSpPr>
          <p:cNvPr id="15" name="矩形 14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文本框 17"/>
          <p:cNvSpPr txBox="1"/>
          <p:nvPr userDrawn="1"/>
        </p:nvSpPr>
        <p:spPr>
          <a:xfrm>
            <a:off x="199860" y="178866"/>
            <a:ext cx="23839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测试与筛查结果</a:t>
            </a:r>
          </a:p>
        </p:txBody>
      </p:sp>
      <p:sp>
        <p:nvSpPr>
          <p:cNvPr id="28" name="矩形 27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32" name="图形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pic>
        <p:nvPicPr>
          <p:cNvPr id="33" name="图形 32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3项测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表格 27"/>
          <p:cNvGraphicFramePr>
            <a:graphicFrameLocks noGrp="1"/>
          </p:cNvGraphicFramePr>
          <p:nvPr userDrawn="1"/>
        </p:nvGraphicFramePr>
        <p:xfrm>
          <a:off x="466928" y="5145130"/>
          <a:ext cx="5992238" cy="3796308"/>
        </p:xfrm>
        <a:graphic>
          <a:graphicData uri="http://schemas.openxmlformats.org/drawingml/2006/table">
            <a:tbl>
              <a:tblPr bandRow="1">
                <a:tableStyleId>{FABFCF23-3B69-468F-B69F-88F6DE6A72F2}</a:tableStyleId>
              </a:tblPr>
              <a:tblGrid>
                <a:gridCol w="21623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99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9801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MMSE </a:t>
                      </a:r>
                      <a:r>
                        <a:rPr lang="zh-CN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量表（分）</a:t>
                      </a:r>
                      <a:endParaRPr lang="zh-CN" altLang="en-US" sz="18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98293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AD8 </a:t>
                      </a:r>
                      <a:r>
                        <a:rPr lang="zh-CN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量表（分）</a:t>
                      </a:r>
                      <a:endParaRPr lang="zh-CN" altLang="en-US" sz="18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表格 27"/>
          <p:cNvGraphicFramePr>
            <a:graphicFrameLocks noGrp="1"/>
          </p:cNvGraphicFramePr>
          <p:nvPr userDrawn="1"/>
        </p:nvGraphicFramePr>
        <p:xfrm>
          <a:off x="466928" y="1274124"/>
          <a:ext cx="5992238" cy="2247437"/>
        </p:xfrm>
        <a:graphic>
          <a:graphicData uri="http://schemas.openxmlformats.org/drawingml/2006/table">
            <a:tbl>
              <a:tblPr bandRow="1">
                <a:tableStyleId>{FABFCF23-3B69-468F-B69F-88F6DE6A72F2}</a:tableStyleId>
              </a:tblPr>
              <a:tblGrid>
                <a:gridCol w="20963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958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47437">
                <a:tc>
                  <a:txBody>
                    <a:bodyPr/>
                    <a:lstStyle/>
                    <a:p>
                      <a:pPr algn="ctr"/>
                      <a:r>
                        <a:rPr lang="zh-CN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洼田饮水试验</a:t>
                      </a:r>
                      <a:endParaRPr lang="zh-CN" altLang="en-US" sz="18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3" name="文本占位符 23"/>
          <p:cNvSpPr>
            <a:spLocks noGrp="1"/>
          </p:cNvSpPr>
          <p:nvPr>
            <p:ph type="body" sz="quarter" idx="22" hasCustomPrompt="1"/>
          </p:nvPr>
        </p:nvSpPr>
        <p:spPr>
          <a:xfrm>
            <a:off x="2683239" y="1691660"/>
            <a:ext cx="3707833" cy="141236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8" name="文本框 7"/>
          <p:cNvSpPr txBox="1"/>
          <p:nvPr userDrawn="1"/>
        </p:nvSpPr>
        <p:spPr>
          <a:xfrm>
            <a:off x="466928" y="4513564"/>
            <a:ext cx="20697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kern="1200" dirty="0">
                <a:solidFill>
                  <a:srgbClr val="002F7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rPr>
              <a:t>认知障碍筛查</a:t>
            </a:r>
            <a:endParaRPr lang="zh-CN" altLang="en-US" sz="2400" b="1" i="0" dirty="0">
              <a:solidFill>
                <a:srgbClr val="002F7C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9" name="文本占位符 23"/>
          <p:cNvSpPr>
            <a:spLocks noGrp="1"/>
          </p:cNvSpPr>
          <p:nvPr>
            <p:ph type="body" sz="quarter" idx="23" hasCustomPrompt="1"/>
          </p:nvPr>
        </p:nvSpPr>
        <p:spPr>
          <a:xfrm>
            <a:off x="2683239" y="7218606"/>
            <a:ext cx="3707833" cy="139498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0" name="文本占位符 23"/>
          <p:cNvSpPr>
            <a:spLocks noGrp="1"/>
          </p:cNvSpPr>
          <p:nvPr>
            <p:ph type="body" sz="quarter" idx="24" hasCustomPrompt="1"/>
          </p:nvPr>
        </p:nvSpPr>
        <p:spPr>
          <a:xfrm>
            <a:off x="2683239" y="5341734"/>
            <a:ext cx="3707833" cy="139498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" name="矩形 1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文本框 2"/>
          <p:cNvSpPr txBox="1"/>
          <p:nvPr userDrawn="1"/>
        </p:nvSpPr>
        <p:spPr>
          <a:xfrm>
            <a:off x="199860" y="177656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预防噎食测试</a:t>
            </a:r>
          </a:p>
        </p:txBody>
      </p:sp>
      <p:sp>
        <p:nvSpPr>
          <p:cNvPr id="6" name="矩形 5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15" name="图形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pic>
        <p:nvPicPr>
          <p:cNvPr id="16" name="图形 15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3项测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" name="表格 27"/>
          <p:cNvGraphicFramePr>
            <a:graphicFrameLocks noGrp="1"/>
          </p:cNvGraphicFramePr>
          <p:nvPr userDrawn="1"/>
        </p:nvGraphicFramePr>
        <p:xfrm>
          <a:off x="432881" y="1203484"/>
          <a:ext cx="5992238" cy="6447707"/>
        </p:xfrm>
        <a:graphic>
          <a:graphicData uri="http://schemas.openxmlformats.org/drawingml/2006/table">
            <a:tbl>
              <a:tblPr bandRow="1">
                <a:tableStyleId>{FABFCF23-3B69-468F-B69F-88F6DE6A72F2}</a:tableStyleId>
              </a:tblPr>
              <a:tblGrid>
                <a:gridCol w="29961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961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2389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MMSE </a:t>
                      </a:r>
                      <a:r>
                        <a:rPr lang="zh-CN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量表（分）</a:t>
                      </a:r>
                      <a:endParaRPr lang="zh-CN" altLang="en-US" sz="18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23812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AD8 </a:t>
                      </a:r>
                      <a:r>
                        <a:rPr lang="zh-CN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量表（分）</a:t>
                      </a:r>
                      <a:endParaRPr lang="zh-CN" altLang="en-US" sz="18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4" name="文本占位符 23"/>
          <p:cNvSpPr>
            <a:spLocks noGrp="1"/>
          </p:cNvSpPr>
          <p:nvPr>
            <p:ph type="body" sz="quarter" idx="23" hasCustomPrompt="1"/>
          </p:nvPr>
        </p:nvSpPr>
        <p:spPr>
          <a:xfrm>
            <a:off x="3461426" y="4871716"/>
            <a:ext cx="2895599" cy="236905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4" name="文本占位符 23"/>
          <p:cNvSpPr>
            <a:spLocks noGrp="1"/>
          </p:cNvSpPr>
          <p:nvPr>
            <p:ph type="body" sz="quarter" idx="24" hasCustomPrompt="1"/>
          </p:nvPr>
        </p:nvSpPr>
        <p:spPr>
          <a:xfrm>
            <a:off x="3461426" y="1709533"/>
            <a:ext cx="2895599" cy="236905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" name="矩形 1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文本框 2"/>
          <p:cNvSpPr txBox="1"/>
          <p:nvPr userDrawn="1"/>
        </p:nvSpPr>
        <p:spPr>
          <a:xfrm>
            <a:off x="199860" y="177656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认知障碍筛查</a:t>
            </a:r>
          </a:p>
        </p:txBody>
      </p:sp>
      <p:sp>
        <p:nvSpPr>
          <p:cNvPr id="9" name="矩形 8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10" name="图形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pic>
        <p:nvPicPr>
          <p:cNvPr id="11" name="图形 10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实验室检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14351" y="2476285"/>
            <a:ext cx="3429297" cy="4953429"/>
          </a:xfrm>
          <a:prstGeom prst="rect">
            <a:avLst/>
          </a:prstGeom>
        </p:spPr>
      </p:pic>
      <p:sp>
        <p:nvSpPr>
          <p:cNvPr id="10" name="图片占位符 9"/>
          <p:cNvSpPr>
            <a:spLocks noGrp="1"/>
          </p:cNvSpPr>
          <p:nvPr>
            <p:ph type="pic" sz="quarter" idx="10"/>
          </p:nvPr>
        </p:nvSpPr>
        <p:spPr>
          <a:xfrm>
            <a:off x="716692" y="5525423"/>
            <a:ext cx="5729416" cy="368682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zh-CN" altLang="en-US" dirty="0"/>
          </a:p>
        </p:txBody>
      </p:sp>
      <p:sp>
        <p:nvSpPr>
          <p:cNvPr id="2" name="图片占位符 9"/>
          <p:cNvSpPr>
            <a:spLocks noGrp="1"/>
          </p:cNvSpPr>
          <p:nvPr>
            <p:ph type="pic" sz="quarter" idx="11"/>
          </p:nvPr>
        </p:nvSpPr>
        <p:spPr>
          <a:xfrm>
            <a:off x="716692" y="1296818"/>
            <a:ext cx="5729416" cy="380858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zh-CN" altLang="en-US" dirty="0"/>
          </a:p>
        </p:txBody>
      </p:sp>
      <p:sp>
        <p:nvSpPr>
          <p:cNvPr id="3" name="矩形 2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4" name="图形 2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文本框 5"/>
          <p:cNvSpPr txBox="1"/>
          <p:nvPr userDrawn="1"/>
        </p:nvSpPr>
        <p:spPr>
          <a:xfrm>
            <a:off x="199860" y="177656"/>
            <a:ext cx="17235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实验室检查</a:t>
            </a:r>
          </a:p>
        </p:txBody>
      </p:sp>
      <p:pic>
        <p:nvPicPr>
          <p:cNvPr id="7" name="图形 6"/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心电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14351" y="2476285"/>
            <a:ext cx="3429297" cy="4953429"/>
          </a:xfrm>
          <a:prstGeom prst="rect">
            <a:avLst/>
          </a:prstGeom>
        </p:spPr>
      </p:pic>
      <p:sp>
        <p:nvSpPr>
          <p:cNvPr id="12" name="图片占位符 9"/>
          <p:cNvSpPr>
            <a:spLocks noGrp="1"/>
          </p:cNvSpPr>
          <p:nvPr>
            <p:ph type="pic" sz="quarter" idx="10"/>
          </p:nvPr>
        </p:nvSpPr>
        <p:spPr>
          <a:xfrm>
            <a:off x="564292" y="1144418"/>
            <a:ext cx="5729416" cy="805837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zh-CN" altLang="en-US" dirty="0"/>
          </a:p>
        </p:txBody>
      </p:sp>
      <p:sp>
        <p:nvSpPr>
          <p:cNvPr id="2" name="矩形 1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图形 2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文本框 4"/>
          <p:cNvSpPr txBox="1"/>
          <p:nvPr userDrawn="1"/>
        </p:nvSpPr>
        <p:spPr>
          <a:xfrm>
            <a:off x="199860" y="177656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心电图</a:t>
            </a:r>
          </a:p>
        </p:txBody>
      </p:sp>
      <p:pic>
        <p:nvPicPr>
          <p:cNvPr id="7" name="图形 6"/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预防跌倒测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14351" y="2476285"/>
            <a:ext cx="3429297" cy="4953429"/>
          </a:xfrm>
          <a:prstGeom prst="rect">
            <a:avLst/>
          </a:prstGeom>
        </p:spPr>
      </p:pic>
      <p:sp>
        <p:nvSpPr>
          <p:cNvPr id="12" name="图片占位符 9"/>
          <p:cNvSpPr>
            <a:spLocks noGrp="1"/>
          </p:cNvSpPr>
          <p:nvPr>
            <p:ph type="pic" sz="quarter" idx="10"/>
          </p:nvPr>
        </p:nvSpPr>
        <p:spPr>
          <a:xfrm>
            <a:off x="564292" y="1144418"/>
            <a:ext cx="5729416" cy="805837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zh-CN" altLang="en-US" dirty="0"/>
          </a:p>
        </p:txBody>
      </p:sp>
      <p:sp>
        <p:nvSpPr>
          <p:cNvPr id="2" name="矩形 1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图形 2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文本框 4"/>
          <p:cNvSpPr txBox="1"/>
          <p:nvPr userDrawn="1"/>
        </p:nvSpPr>
        <p:spPr>
          <a:xfrm>
            <a:off x="199860" y="177656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预防跌倒测试</a:t>
            </a:r>
          </a:p>
        </p:txBody>
      </p:sp>
      <p:pic>
        <p:nvPicPr>
          <p:cNvPr id="7" name="图形 6"/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预防噎食测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14351" y="2476285"/>
            <a:ext cx="3429297" cy="4953429"/>
          </a:xfrm>
          <a:prstGeom prst="rect">
            <a:avLst/>
          </a:prstGeom>
        </p:spPr>
      </p:pic>
      <p:sp>
        <p:nvSpPr>
          <p:cNvPr id="12" name="图片占位符 9"/>
          <p:cNvSpPr>
            <a:spLocks noGrp="1"/>
          </p:cNvSpPr>
          <p:nvPr>
            <p:ph type="pic" sz="quarter" idx="10"/>
          </p:nvPr>
        </p:nvSpPr>
        <p:spPr>
          <a:xfrm>
            <a:off x="564292" y="1144418"/>
            <a:ext cx="5729416" cy="809039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zh-CN" altLang="en-US" dirty="0"/>
          </a:p>
        </p:txBody>
      </p:sp>
      <p:sp>
        <p:nvSpPr>
          <p:cNvPr id="2" name="矩形 1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图形 2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文本框 4"/>
          <p:cNvSpPr txBox="1"/>
          <p:nvPr userDrawn="1"/>
        </p:nvSpPr>
        <p:spPr>
          <a:xfrm>
            <a:off x="199860" y="177656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预防噎食测试</a:t>
            </a:r>
          </a:p>
        </p:txBody>
      </p:sp>
      <p:pic>
        <p:nvPicPr>
          <p:cNvPr id="7" name="图形 6"/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认知障碍筛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14351" y="2476285"/>
            <a:ext cx="3429297" cy="4953429"/>
          </a:xfrm>
          <a:prstGeom prst="rect">
            <a:avLst/>
          </a:prstGeom>
        </p:spPr>
      </p:pic>
      <p:sp>
        <p:nvSpPr>
          <p:cNvPr id="12" name="图片占位符 9"/>
          <p:cNvSpPr>
            <a:spLocks noGrp="1"/>
          </p:cNvSpPr>
          <p:nvPr>
            <p:ph type="pic" sz="quarter" idx="10"/>
          </p:nvPr>
        </p:nvSpPr>
        <p:spPr>
          <a:xfrm>
            <a:off x="564292" y="1144418"/>
            <a:ext cx="5729416" cy="809039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zh-CN" altLang="en-US" dirty="0"/>
          </a:p>
        </p:txBody>
      </p:sp>
      <p:sp>
        <p:nvSpPr>
          <p:cNvPr id="2" name="矩形 1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图形 2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文本框 4"/>
          <p:cNvSpPr txBox="1"/>
          <p:nvPr userDrawn="1"/>
        </p:nvSpPr>
        <p:spPr>
          <a:xfrm>
            <a:off x="199860" y="177656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认知障碍筛查</a:t>
            </a:r>
          </a:p>
        </p:txBody>
      </p:sp>
      <p:pic>
        <p:nvPicPr>
          <p:cNvPr id="7" name="图形 6"/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中医体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14351" y="2476285"/>
            <a:ext cx="3429297" cy="4953429"/>
          </a:xfrm>
          <a:prstGeom prst="rect">
            <a:avLst/>
          </a:prstGeom>
        </p:spPr>
      </p:pic>
      <p:sp>
        <p:nvSpPr>
          <p:cNvPr id="6" name="文本占位符 1"/>
          <p:cNvSpPr>
            <a:spLocks noGrp="1"/>
          </p:cNvSpPr>
          <p:nvPr>
            <p:ph type="body" sz="quarter" idx="14"/>
          </p:nvPr>
        </p:nvSpPr>
        <p:spPr>
          <a:xfrm>
            <a:off x="657025" y="1209754"/>
            <a:ext cx="5543949" cy="7923735"/>
          </a:xfrm>
          <a:prstGeom prst="rect">
            <a:avLst/>
          </a:prstGeom>
        </p:spPr>
        <p:txBody>
          <a:bodyPr/>
          <a:lstStyle>
            <a:lvl1pPr>
              <a:defRPr sz="1600" b="0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2" name="矩形 1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图形 2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文本框 4"/>
          <p:cNvSpPr txBox="1"/>
          <p:nvPr userDrawn="1"/>
        </p:nvSpPr>
        <p:spPr>
          <a:xfrm>
            <a:off x="199860" y="177656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中医辨证</a:t>
            </a:r>
          </a:p>
        </p:txBody>
      </p:sp>
      <p:pic>
        <p:nvPicPr>
          <p:cNvPr id="7" name="图形 6"/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体检重要阳性结果及异常情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文本占位符 23"/>
          <p:cNvSpPr>
            <a:spLocks noGrp="1"/>
          </p:cNvSpPr>
          <p:nvPr>
            <p:ph type="body" sz="quarter" idx="14" hasCustomPrompt="1"/>
          </p:nvPr>
        </p:nvSpPr>
        <p:spPr>
          <a:xfrm>
            <a:off x="657225" y="1503680"/>
            <a:ext cx="5544185" cy="7441212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txBody>
          <a:bodyPr/>
          <a:lstStyle>
            <a:lvl1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 sz="1600" b="0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3" name="文本框 2"/>
          <p:cNvSpPr txBox="1"/>
          <p:nvPr userDrawn="1"/>
        </p:nvSpPr>
        <p:spPr>
          <a:xfrm>
            <a:off x="336496" y="961108"/>
            <a:ext cx="35814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000" b="1" i="0" kern="1200" dirty="0">
                <a:solidFill>
                  <a:srgbClr val="002F7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rPr>
              <a:t>体检重要阳性结果及异常情况</a:t>
            </a:r>
            <a:endParaRPr lang="zh-CN" altLang="en-US" sz="2000" b="1" i="0" dirty="0">
              <a:solidFill>
                <a:srgbClr val="002F7C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" name="矩形 1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4" name="图形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文本框 5"/>
          <p:cNvSpPr txBox="1"/>
          <p:nvPr userDrawn="1"/>
        </p:nvSpPr>
        <p:spPr>
          <a:xfrm>
            <a:off x="199860" y="177656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检查结果</a:t>
            </a:r>
          </a:p>
        </p:txBody>
      </p:sp>
      <p:pic>
        <p:nvPicPr>
          <p:cNvPr id="10" name="图形 9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体检重要阳性结果及异常情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文本占位符 23"/>
          <p:cNvSpPr>
            <a:spLocks noGrp="1"/>
          </p:cNvSpPr>
          <p:nvPr>
            <p:ph type="body" sz="quarter" idx="14" hasCustomPrompt="1"/>
          </p:nvPr>
        </p:nvSpPr>
        <p:spPr>
          <a:xfrm>
            <a:off x="657225" y="1503680"/>
            <a:ext cx="5544185" cy="70485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txBody>
          <a:bodyPr/>
          <a:lstStyle>
            <a:lvl1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 sz="16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" name="矩形 1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图形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文本框 5"/>
          <p:cNvSpPr txBox="1"/>
          <p:nvPr userDrawn="1"/>
        </p:nvSpPr>
        <p:spPr>
          <a:xfrm>
            <a:off x="199860" y="177656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异常结果对比</a:t>
            </a:r>
          </a:p>
        </p:txBody>
      </p:sp>
      <p:pic>
        <p:nvPicPr>
          <p:cNvPr id="9" name="图形 8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医生建议与指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占位符 23"/>
          <p:cNvSpPr>
            <a:spLocks noGrp="1"/>
          </p:cNvSpPr>
          <p:nvPr>
            <p:ph type="body" sz="quarter" idx="14" hasCustomPrompt="1"/>
          </p:nvPr>
        </p:nvSpPr>
        <p:spPr>
          <a:xfrm>
            <a:off x="657025" y="1228497"/>
            <a:ext cx="5543949" cy="7486488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txBody>
          <a:bodyPr/>
          <a:lstStyle>
            <a:lvl1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 sz="16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" name="矩形 1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图形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文本框 5"/>
          <p:cNvSpPr txBox="1"/>
          <p:nvPr userDrawn="1"/>
        </p:nvSpPr>
        <p:spPr>
          <a:xfrm>
            <a:off x="199860" y="177656"/>
            <a:ext cx="17235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建议与指导</a:t>
            </a:r>
          </a:p>
        </p:txBody>
      </p:sp>
      <p:pic>
        <p:nvPicPr>
          <p:cNvPr id="10" name="图形 9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医生建议与指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 userDrawn="1"/>
        </p:nvSpPr>
        <p:spPr>
          <a:xfrm>
            <a:off x="0" y="0"/>
            <a:ext cx="6858001" cy="990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434891" y="8169920"/>
            <a:ext cx="1988213" cy="589608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8359" y="3721274"/>
            <a:ext cx="1441276" cy="1441276"/>
          </a:xfrm>
          <a:prstGeom prst="rect">
            <a:avLst/>
          </a:prstGeom>
        </p:spPr>
      </p:pic>
      <p:sp>
        <p:nvSpPr>
          <p:cNvPr id="2" name="文本框 1"/>
          <p:cNvSpPr txBox="1"/>
          <p:nvPr userDrawn="1"/>
        </p:nvSpPr>
        <p:spPr>
          <a:xfrm>
            <a:off x="2721111" y="5162550"/>
            <a:ext cx="141577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400" b="0" i="0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微信扫码</a:t>
            </a:r>
            <a:endParaRPr kumimoji="1" lang="en-US" altLang="zh-CN" sz="2400" b="0" i="0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r>
              <a:rPr kumimoji="1" lang="zh-CN" altLang="en-US" sz="2400" b="0" i="0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关注我们</a:t>
            </a: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0" Type="http://schemas.openxmlformats.org/officeDocument/2006/relationships/slideLayout" Target="../slideLayouts/slideLayout1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17" Type="http://schemas.openxmlformats.org/officeDocument/2006/relationships/theme" Target="../theme/theme3.xml"/><Relationship Id="rId2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71488" y="527050"/>
            <a:ext cx="5915025" cy="19145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71488" y="2636838"/>
            <a:ext cx="5915025" cy="62849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22E670-0285-414D-9D27-33719FC40C21}" type="datetimeFigureOut">
              <a:rPr lang="zh-CN" altLang="en-US" smtClean="0"/>
              <a:t>2025/11/28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C8A809-A5DD-4999-A0BF-A878263E630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  <p:sldLayoutId id="2147483655" r:id="rId3"/>
    <p:sldLayoutId id="2147483656" r:id="rId4"/>
    <p:sldLayoutId id="2147483657" r:id="rId5"/>
    <p:sldLayoutId id="2147483658" r:id="rId6"/>
    <p:sldLayoutId id="2147483659" r:id="rId7"/>
    <p:sldLayoutId id="2147483660" r:id="rId8"/>
    <p:sldLayoutId id="2147483661" r:id="rId9"/>
    <p:sldLayoutId id="2147483662" r:id="rId10"/>
    <p:sldLayoutId id="214748366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  <p:sldLayoutId id="2147483668" r:id="rId4"/>
    <p:sldLayoutId id="2147483669" r:id="rId5"/>
    <p:sldLayoutId id="2147483670" r:id="rId6"/>
    <p:sldLayoutId id="2147483671" r:id="rId7"/>
    <p:sldLayoutId id="2147483672" r:id="rId8"/>
    <p:sldLayoutId id="2147483673" r:id="rId9"/>
    <p:sldLayoutId id="2147483674" r:id="rId10"/>
    <p:sldLayoutId id="2147483675" r:id="rId11"/>
    <p:sldLayoutId id="2147483676" r:id="rId12"/>
    <p:sldLayoutId id="2147483677" r:id="rId13"/>
    <p:sldLayoutId id="2147483678" r:id="rId14"/>
    <p:sldLayoutId id="2147483679" r:id="rId15"/>
    <p:sldLayoutId id="2147483680" r:id="rId16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3"/>
          </p:nvPr>
        </p:nvSpPr>
        <p:spPr>
          <a:xfrm>
            <a:off x="4210331" y="6787486"/>
            <a:ext cx="2291756" cy="488471"/>
          </a:xfrm>
        </p:spPr>
        <p:txBody>
          <a:bodyPr/>
          <a:lstStyle/>
          <a:p>
            <a:r>
              <a:rPr lang="zh-CN" altLang="en-US" dirty="0"/>
              <a:t>姓名 </a:t>
            </a:r>
            <a:endParaRPr kumimoji="1"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zh-CN" altLang="en-US" dirty="0"/>
              <a:t>性别</a:t>
            </a:r>
            <a:endParaRPr kumimoji="1"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zh-CN" altLang="en-US"/>
              <a:t> 年龄 </a:t>
            </a:r>
            <a:endParaRPr kumimoji="1" lang="en-US" altLang="zh-CN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zh-CN" altLang="en-US"/>
              <a:t>日期</a:t>
            </a:r>
            <a:endParaRPr lang="zh-CN" alt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9594F4-266A-2B7E-4D63-AEF683767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D1F934A-9688-958D-D3C4-5743A3CD9DB5}"/>
              </a:ext>
            </a:extLst>
          </p:cNvPr>
          <p:cNvSpPr/>
          <p:nvPr/>
        </p:nvSpPr>
        <p:spPr>
          <a:xfrm>
            <a:off x="302751" y="1233272"/>
            <a:ext cx="57607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CN" altLang="en-US" sz="2000" b="1" dirty="0">
                <a:solidFill>
                  <a:schemeClr val="accent1">
                    <a:lumMod val="75000"/>
                  </a:schemeClr>
                </a:solidFill>
              </a:rPr>
              <a:t>影像标题</a:t>
            </a:r>
            <a:endParaRPr lang="en-US" sz="20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FE74C9D0-EFEC-873A-C0F6-594519EE32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101" y="1602482"/>
            <a:ext cx="6500692" cy="7587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50153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4"/>
          </p:nvPr>
        </p:nvSpPr>
        <p:spPr>
          <a:xfrm>
            <a:off x="656590" y="850274"/>
            <a:ext cx="5544185" cy="8111490"/>
          </a:xfrm>
          <a:ln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/>
          <a:lstStyle/>
          <a:p>
            <a:pPr marL="0" indent="0">
              <a:buNone/>
            </a:pPr>
            <a:r>
              <a:rPr lang="zh-CN" altLang="en-US" sz="140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总结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MzQ3MWI0ZDQ2YTc0OWE4ZjMyZmU5NDk5YzZhOTc5Y2QifQ=="/>
</p:tagLst>
</file>

<file path=ppt/theme/theme1.xml><?xml version="1.0" encoding="utf-8"?>
<a:theme xmlns:a="http://schemas.openxmlformats.org/drawingml/2006/main" name="自定义设计方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自定义设计方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engXian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engXian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TM04033919[[fn=电路]]</Template>
  <TotalTime>110</TotalTime>
  <Words>8</Words>
  <Application>Microsoft Office PowerPoint</Application>
  <PresentationFormat>A4 纸张(210x297 毫米)</PresentationFormat>
  <Paragraphs>6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4</vt:i4>
      </vt:variant>
    </vt:vector>
  </HeadingPairs>
  <TitlesOfParts>
    <vt:vector size="13" baseType="lpstr">
      <vt:lpstr>DengXian</vt:lpstr>
      <vt:lpstr>DengXian</vt:lpstr>
      <vt:lpstr>等线 Light</vt:lpstr>
      <vt:lpstr>微软雅黑</vt:lpstr>
      <vt:lpstr>微软雅黑 Light</vt:lpstr>
      <vt:lpstr>Arial</vt:lpstr>
      <vt:lpstr>自定义设计方案</vt:lpstr>
      <vt:lpstr>1_自定义设计方案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liu mnengdi</dc:creator>
  <cp:lastModifiedBy>仕阳 刘</cp:lastModifiedBy>
  <cp:revision>184</cp:revision>
  <cp:lastPrinted>2023-07-10T04:29:00Z</cp:lastPrinted>
  <dcterms:created xsi:type="dcterms:W3CDTF">2023-04-03T03:54:00Z</dcterms:created>
  <dcterms:modified xsi:type="dcterms:W3CDTF">2025-11-28T06:28:45Z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12F8BF44691545DFB466E8B1A11C18F8_13</vt:lpwstr>
  </property>
  <property fmtid="{D5CDD505-2E9C-101B-9397-08002B2CF9AE}" pid="3" name="KSOProductBuildVer">
    <vt:lpwstr>2052-12.1.0.17827</vt:lpwstr>
  </property>
</Properties>
</file>