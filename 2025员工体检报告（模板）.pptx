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2" r:id="rId2"/>
    <p:sldMasterId id="2147483664" r:id="rId3"/>
  </p:sldMasterIdLst>
  <p:notesMasterIdLst>
    <p:notesMasterId r:id="rId8"/>
  </p:notesMasterIdLst>
  <p:sldIdLst>
    <p:sldId id="311" r:id="rId4"/>
    <p:sldId id="352" r:id="rId5"/>
    <p:sldId id="290" r:id="rId6"/>
    <p:sldId id="282" r:id="rId7"/>
  </p:sldIdLst>
  <p:sldSz cx="6858000" cy="9906000" type="A4"/>
  <p:notesSz cx="6797675" cy="9928225"/>
  <p:custDataLst>
    <p:tags r:id="rId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159" userDrawn="1">
          <p15:clr>
            <a:srgbClr val="A4A3A4"/>
          </p15:clr>
        </p15:guide>
        <p15:guide id="2" orient="horz" pos="30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C"/>
    <a:srgbClr val="FFC101"/>
    <a:srgbClr val="A1CCE7"/>
    <a:srgbClr val="F18735"/>
    <a:srgbClr val="EAA930"/>
    <a:srgbClr val="F19DC1"/>
    <a:srgbClr val="0069B7"/>
    <a:srgbClr val="002F7B"/>
    <a:srgbClr val="FAEDF0"/>
    <a:srgbClr val="6DB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 autoAdjust="0"/>
    <p:restoredTop sz="94674"/>
  </p:normalViewPr>
  <p:slideViewPr>
    <p:cSldViewPr snapToGrid="0" showGuides="1">
      <p:cViewPr varScale="1">
        <p:scale>
          <a:sx n="75" d="100"/>
          <a:sy n="75" d="100"/>
        </p:scale>
        <p:origin x="3384" y="84"/>
      </p:cViewPr>
      <p:guideLst>
        <p:guide pos="2159"/>
        <p:guide orient="horz" pos="30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4F749-1A8B-2A4A-9EFC-B5FDB292ED71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77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5B12D-0BB8-3942-9D43-62B1E9F6F28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rgbClr val="FFC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54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圆角矩形 2"/>
          <p:cNvSpPr/>
          <p:nvPr userDrawn="1"/>
        </p:nvSpPr>
        <p:spPr>
          <a:xfrm>
            <a:off x="1162756" y="5850466"/>
            <a:ext cx="4526844" cy="261902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733536" y="637922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1733536" y="699689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1733536" y="76121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2635844" y="6748560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2635844" y="7366222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2635844" y="798146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2635844" y="631993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2635844" y="6925221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2635844" y="755431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7100" y="771883"/>
            <a:ext cx="1885950" cy="540173"/>
          </a:xfrm>
          <a:prstGeom prst="rect">
            <a:avLst/>
          </a:prstGeom>
        </p:spPr>
      </p:pic>
      <p:pic>
        <p:nvPicPr>
          <p:cNvPr id="2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075" y="3711153"/>
            <a:ext cx="3087525" cy="385941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641073" y="2338776"/>
            <a:ext cx="357020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6600" b="0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cxnSp>
        <p:nvCxnSpPr>
          <p:cNvPr id="8" name="直线连接符 7"/>
          <p:cNvCxnSpPr/>
          <p:nvPr userDrawn="1"/>
        </p:nvCxnSpPr>
        <p:spPr>
          <a:xfrm>
            <a:off x="1733536" y="3505481"/>
            <a:ext cx="333224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50" y="1620838"/>
            <a:ext cx="5143500" cy="3449637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50" y="5202238"/>
            <a:ext cx="5143500" cy="23923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2470150"/>
            <a:ext cx="5915025" cy="411956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8313" y="6629400"/>
            <a:ext cx="5915025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1488" y="2636838"/>
            <a:ext cx="2881312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05200" y="2636838"/>
            <a:ext cx="2881313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3075" y="2428875"/>
            <a:ext cx="2900363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3075" y="3617913"/>
            <a:ext cx="2900363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1863" y="2428875"/>
            <a:ext cx="2916237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1863" y="3617913"/>
            <a:ext cx="2916237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4908550" y="527050"/>
            <a:ext cx="1477963" cy="8394700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527050"/>
            <a:ext cx="4284662" cy="83947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般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 userDrawn="1"/>
        </p:nvSpPr>
        <p:spPr>
          <a:xfrm>
            <a:off x="204201" y="178907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一般检查</a:t>
            </a:r>
          </a:p>
        </p:txBody>
      </p:sp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711707" y="1269077"/>
          <a:ext cx="5577848" cy="757528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3495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83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75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身高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(cm)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体重指数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基础代谢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(kcal)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肌肉率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体脂肪率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内脏脂肪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体年龄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岁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收缩压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舒张压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3302000" y="143392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302000" y="218404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302000" y="2934177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302000" y="368430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302000" y="4434433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302000" y="5184561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3302000" y="5934689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302000" y="6684817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5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301998" y="743494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9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3301999" y="818507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6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科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640076" y="1203484"/>
          <a:ext cx="5577848" cy="7963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010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9129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病史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心率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心音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肺部听诊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肝脏触诊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脾脏触诊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肾脏叩诊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神经反射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其他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2561037" y="1266096"/>
            <a:ext cx="3564932" cy="2190912"/>
          </a:xfrm>
          <a:prstGeom prst="rect">
            <a:avLst/>
          </a:prstGeom>
        </p:spPr>
        <p:txBody>
          <a:bodyPr anchor="t"/>
          <a:lstStyle>
            <a:lvl1pPr marL="0" indent="0" algn="just">
              <a:lnSpc>
                <a:spcPct val="150000"/>
              </a:lnSpc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2561037" y="365408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2561037" y="428946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2561037" y="4896372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2561037" y="5527744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2561037" y="6143466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561037" y="6740087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561037" y="7361623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561035" y="7998938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2561035" y="8582865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890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内科检查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9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格 27"/>
          <p:cNvGraphicFramePr>
            <a:graphicFrameLocks noGrp="1"/>
          </p:cNvGraphicFramePr>
          <p:nvPr userDrawn="1"/>
        </p:nvGraphicFramePr>
        <p:xfrm>
          <a:off x="498150" y="7998622"/>
          <a:ext cx="5992238" cy="1151662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844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7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98150" y="6595426"/>
          <a:ext cx="5992238" cy="60213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785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0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2130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kern="1200" dirty="0">
                          <a:solidFill>
                            <a:schemeClr val="tx1"/>
                          </a:solidFill>
                          <a:effectLst/>
                        </a:rPr>
                        <a:t>洼田饮水试验</a:t>
                      </a:r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498150" y="1750174"/>
          <a:ext cx="5992239" cy="3941574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80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54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握力（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kg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左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右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小腿周径（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五次起坐试验（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米起立行走测验（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分钟正常步速试验（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平衡测试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504831" y="383082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494269" y="252417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504831" y="3167410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513995" y="445885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504830" y="5107832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6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3997166" y="1826581"/>
            <a:ext cx="95546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27" hasCustomPrompt="1"/>
          </p:nvPr>
        </p:nvSpPr>
        <p:spPr>
          <a:xfrm>
            <a:off x="5574771" y="1823433"/>
            <a:ext cx="87963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框 1"/>
          <p:cNvSpPr txBox="1"/>
          <p:nvPr userDrawn="1"/>
        </p:nvSpPr>
        <p:spPr>
          <a:xfrm>
            <a:off x="424174" y="1220986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防跌倒测试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424174" y="5984644"/>
            <a:ext cx="17669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预防噎食测试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 userDrawn="1"/>
        </p:nvSpPr>
        <p:spPr>
          <a:xfrm>
            <a:off x="424174" y="7448069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认知障碍筛查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794280" y="6674173"/>
            <a:ext cx="758624" cy="44463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444751" y="8628059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444751" y="8033730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文本框 10"/>
          <p:cNvSpPr txBox="1"/>
          <p:nvPr userDrawn="1"/>
        </p:nvSpPr>
        <p:spPr>
          <a:xfrm>
            <a:off x="3997166" y="6699717"/>
            <a:ext cx="2493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20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正常：1级，5秒之内；可疑：1级，5秒以上或2级；异常：3～5级</a:t>
            </a:r>
          </a:p>
          <a:p>
            <a:pPr algn="l"/>
            <a:endParaRPr lang="zh-CN" altLang="en-US" sz="12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3213972" y="8270376"/>
            <a:ext cx="34290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27-30: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21-26: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轻度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10-20: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0-9: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重度</a:t>
            </a:r>
            <a:endParaRPr lang="zh-CN" altLang="en-US" sz="11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429000" y="8796329"/>
            <a:ext cx="30613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认知正常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0-1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分；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可能存在认知障碍≥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2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分</a:t>
            </a:r>
          </a:p>
        </p:txBody>
      </p:sp>
      <p:sp>
        <p:nvSpPr>
          <p:cNvPr id="15" name="矩形 1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文本框 17"/>
          <p:cNvSpPr txBox="1"/>
          <p:nvPr userDrawn="1"/>
        </p:nvSpPr>
        <p:spPr>
          <a:xfrm>
            <a:off x="199860" y="178866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测试与筛查结果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2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33" name="图形 32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表格 27"/>
          <p:cNvGraphicFramePr>
            <a:graphicFrameLocks noGrp="1"/>
          </p:cNvGraphicFramePr>
          <p:nvPr userDrawn="1"/>
        </p:nvGraphicFramePr>
        <p:xfrm>
          <a:off x="466928" y="5145130"/>
          <a:ext cx="5992238" cy="3796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62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9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801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82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66928" y="1274124"/>
          <a:ext cx="5992238" cy="224743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096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5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47437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洼田饮水试验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683239" y="1691660"/>
            <a:ext cx="3707833" cy="14123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框 7"/>
          <p:cNvSpPr txBox="1"/>
          <p:nvPr userDrawn="1"/>
        </p:nvSpPr>
        <p:spPr>
          <a:xfrm>
            <a:off x="466928" y="4513564"/>
            <a:ext cx="2069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认知障碍筛查</a:t>
            </a:r>
            <a:endParaRPr lang="zh-CN" altLang="en-US" sz="24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683239" y="7218606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0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683239" y="5341734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sp>
        <p:nvSpPr>
          <p:cNvPr id="6" name="矩形 5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5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表格 27"/>
          <p:cNvGraphicFramePr>
            <a:graphicFrameLocks noGrp="1"/>
          </p:cNvGraphicFramePr>
          <p:nvPr userDrawn="1"/>
        </p:nvGraphicFramePr>
        <p:xfrm>
          <a:off x="432881" y="1203484"/>
          <a:ext cx="5992238" cy="644770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996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6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2389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381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461426" y="4871716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461426" y="1709533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0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1" name="图形 10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716692" y="5525423"/>
            <a:ext cx="5729416" cy="36868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图片占位符 9"/>
          <p:cNvSpPr>
            <a:spLocks noGrp="1"/>
          </p:cNvSpPr>
          <p:nvPr>
            <p:ph type="pic" sz="quarter" idx="11"/>
          </p:nvPr>
        </p:nvSpPr>
        <p:spPr>
          <a:xfrm>
            <a:off x="716692" y="1296818"/>
            <a:ext cx="5729416" cy="38085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3" name="矩形 2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跌倒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预防跌倒测试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噎食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认知障碍筛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医体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6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7025" y="1209754"/>
            <a:ext cx="5543949" cy="7923735"/>
          </a:xfrm>
          <a:prstGeom prst="rect">
            <a:avLst/>
          </a:prstGeom>
        </p:spPr>
        <p:txBody>
          <a:bodyPr/>
          <a:lstStyle>
            <a:lvl1pPr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中医辨证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44121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文本框 2"/>
          <p:cNvSpPr txBox="1"/>
          <p:nvPr userDrawn="1"/>
        </p:nvSpPr>
        <p:spPr>
          <a:xfrm>
            <a:off x="336496" y="961108"/>
            <a:ext cx="35814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体检重要阳性结果及异常情况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检查结果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0485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异常结果对比</a:t>
            </a:r>
          </a:p>
        </p:txBody>
      </p:sp>
      <p:pic>
        <p:nvPicPr>
          <p:cNvPr id="9" name="图形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0" y="0"/>
            <a:ext cx="6858001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434891" y="8169920"/>
            <a:ext cx="1988213" cy="58960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359" y="3721274"/>
            <a:ext cx="1441276" cy="1441276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2721111" y="5162550"/>
            <a:ext cx="14157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kumimoji="1" lang="en-US" altLang="zh-CN" sz="2400" b="0" i="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>
          <a:xfrm>
            <a:off x="4210331" y="6787486"/>
            <a:ext cx="2291756" cy="488471"/>
          </a:xfrm>
        </p:spPr>
        <p:txBody>
          <a:bodyPr/>
          <a:lstStyle/>
          <a:p>
            <a:r>
              <a:rPr lang="zh-CN" altLang="en-US" dirty="0"/>
              <a:t>姓名 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性别</a:t>
            </a:r>
            <a:endParaRPr kumimoji="1"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zh-CN" altLang="en-US"/>
              <a:t> 年龄 </a:t>
            </a:r>
            <a:endParaRPr kumimoji="1"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CN" altLang="en-US"/>
              <a:t>日期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594F4-266A-2B7E-4D63-AEF683767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5015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6590" y="850274"/>
            <a:ext cx="5544185" cy="8111490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}}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Q3MWI0ZDQ2YTc0OWE4ZjMyZmU5NDk5YzZhOTc5Y2Q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TM04033919[[fn=电路]]</Template>
  <TotalTime>108</TotalTime>
  <Words>8</Words>
  <Application>Microsoft Office PowerPoint</Application>
  <PresentationFormat>A4 纸张(210x297 毫米)</PresentationFormat>
  <Paragraphs>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4</vt:i4>
      </vt:variant>
    </vt:vector>
  </HeadingPairs>
  <TitlesOfParts>
    <vt:vector size="13" baseType="lpstr">
      <vt:lpstr>等线</vt:lpstr>
      <vt:lpstr>等线</vt:lpstr>
      <vt:lpstr>等线 Light</vt:lpstr>
      <vt:lpstr>微软雅黑</vt:lpstr>
      <vt:lpstr>微软雅黑 Light</vt:lpstr>
      <vt:lpstr>Arial</vt:lpstr>
      <vt:lpstr>自定义设计方案</vt:lpstr>
      <vt:lpstr>1_自定义设计方案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mnengdi</dc:creator>
  <cp:lastModifiedBy>仕阳 刘</cp:lastModifiedBy>
  <cp:revision>182</cp:revision>
  <cp:lastPrinted>2023-07-10T04:29:00Z</cp:lastPrinted>
  <dcterms:created xsi:type="dcterms:W3CDTF">2023-04-03T03:54:00Z</dcterms:created>
  <dcterms:modified xsi:type="dcterms:W3CDTF">2025-11-28T02:39:39Z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12F8BF44691545DFB466E8B1A11C18F8_13</vt:lpwstr>
  </property>
  <property fmtid="{D5CDD505-2E9C-101B-9397-08002B2CF9AE}" pid="3" name="KSOProductBuildVer">
    <vt:lpwstr>2052-12.1.0.17827</vt:lpwstr>
  </property>
</Properties>
</file>